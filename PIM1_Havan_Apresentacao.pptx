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Default Extension="jpg" ContentType="image/jpg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5080" cy="5143500"/>
          </a:xfrm>
          <a:custGeom>
            <a:avLst/>
            <a:gdLst/>
            <a:ahLst/>
            <a:cxnLst/>
            <a:rect l="l" t="t" r="r" b="b"/>
            <a:pathLst>
              <a:path w="5080" h="5143500">
                <a:moveTo>
                  <a:pt x="0" y="5143500"/>
                </a:moveTo>
                <a:lnTo>
                  <a:pt x="4763" y="5143500"/>
                </a:lnTo>
                <a:lnTo>
                  <a:pt x="4763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solidFill>
            <a:srgbClr val="1A1A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41700" y="1368996"/>
            <a:ext cx="2260599" cy="666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36595" y="3168586"/>
            <a:ext cx="3670808" cy="594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763" y="4826"/>
            <a:ext cx="9139555" cy="685800"/>
          </a:xfrm>
          <a:custGeom>
            <a:avLst/>
            <a:gdLst/>
            <a:ahLst/>
            <a:cxnLst/>
            <a:rect l="l" t="t" r="r" b="b"/>
            <a:pathLst>
              <a:path w="9139555" h="685800">
                <a:moveTo>
                  <a:pt x="9139236" y="0"/>
                </a:moveTo>
                <a:lnTo>
                  <a:pt x="0" y="0"/>
                </a:lnTo>
                <a:lnTo>
                  <a:pt x="0" y="685800"/>
                </a:lnTo>
                <a:lnTo>
                  <a:pt x="9139236" y="685800"/>
                </a:lnTo>
                <a:lnTo>
                  <a:pt x="9139236" y="0"/>
                </a:lnTo>
                <a:close/>
              </a:path>
            </a:pathLst>
          </a:custGeom>
          <a:solidFill>
            <a:srgbClr val="1A1A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763" y="4826"/>
            <a:ext cx="9139555" cy="685800"/>
          </a:xfrm>
          <a:custGeom>
            <a:avLst/>
            <a:gdLst/>
            <a:ahLst/>
            <a:cxnLst/>
            <a:rect l="l" t="t" r="r" b="b"/>
            <a:pathLst>
              <a:path w="9139555" h="685800">
                <a:moveTo>
                  <a:pt x="9139236" y="0"/>
                </a:moveTo>
                <a:lnTo>
                  <a:pt x="0" y="0"/>
                </a:lnTo>
                <a:lnTo>
                  <a:pt x="0" y="685800"/>
                </a:lnTo>
                <a:lnTo>
                  <a:pt x="9139236" y="685800"/>
                </a:lnTo>
              </a:path>
            </a:pathLst>
          </a:custGeom>
          <a:ln w="12700">
            <a:solidFill>
              <a:srgbClr val="1A1A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A1A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4763" y="4826"/>
            <a:ext cx="9139555" cy="685800"/>
          </a:xfrm>
          <a:custGeom>
            <a:avLst/>
            <a:gdLst/>
            <a:ahLst/>
            <a:cxnLst/>
            <a:rect l="l" t="t" r="r" b="b"/>
            <a:pathLst>
              <a:path w="9139555" h="685800">
                <a:moveTo>
                  <a:pt x="9139236" y="0"/>
                </a:moveTo>
                <a:lnTo>
                  <a:pt x="0" y="0"/>
                </a:lnTo>
                <a:lnTo>
                  <a:pt x="0" y="685800"/>
                </a:lnTo>
                <a:lnTo>
                  <a:pt x="9139236" y="685800"/>
                </a:lnTo>
                <a:lnTo>
                  <a:pt x="9139236" y="0"/>
                </a:lnTo>
                <a:close/>
              </a:path>
            </a:pathLst>
          </a:custGeom>
          <a:solidFill>
            <a:srgbClr val="CC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763" y="4826"/>
            <a:ext cx="9139555" cy="685800"/>
          </a:xfrm>
          <a:custGeom>
            <a:avLst/>
            <a:gdLst/>
            <a:ahLst/>
            <a:cxnLst/>
            <a:rect l="l" t="t" r="r" b="b"/>
            <a:pathLst>
              <a:path w="9139555" h="685800">
                <a:moveTo>
                  <a:pt x="9139236" y="0"/>
                </a:moveTo>
                <a:lnTo>
                  <a:pt x="0" y="0"/>
                </a:lnTo>
                <a:lnTo>
                  <a:pt x="0" y="685800"/>
                </a:lnTo>
                <a:lnTo>
                  <a:pt x="9139236" y="685800"/>
                </a:lnTo>
              </a:path>
            </a:pathLst>
          </a:custGeom>
          <a:ln w="12700">
            <a:solidFill>
              <a:srgbClr val="CC1F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5134" y="173989"/>
            <a:ext cx="8253730" cy="3009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3045" y="1258697"/>
            <a:ext cx="8677910" cy="34728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3" Type="http://schemas.openxmlformats.org/officeDocument/2006/relationships/image" Target="../media/image5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16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586" y="-1587"/>
            <a:ext cx="9145905" cy="5151755"/>
            <a:chOff x="-1586" y="-1587"/>
            <a:chExt cx="9145905" cy="5151755"/>
          </a:xfrm>
        </p:grpSpPr>
        <p:sp>
          <p:nvSpPr>
            <p:cNvPr id="3" name="object 3" descr=""/>
            <p:cNvSpPr/>
            <p:nvPr/>
          </p:nvSpPr>
          <p:spPr>
            <a:xfrm>
              <a:off x="166688" y="0"/>
              <a:ext cx="8977630" cy="5143500"/>
            </a:xfrm>
            <a:custGeom>
              <a:avLst/>
              <a:gdLst/>
              <a:ahLst/>
              <a:cxnLst/>
              <a:rect l="l" t="t" r="r" b="b"/>
              <a:pathLst>
                <a:path w="8977630" h="5143500">
                  <a:moveTo>
                    <a:pt x="0" y="5143500"/>
                  </a:moveTo>
                  <a:lnTo>
                    <a:pt x="8977311" y="5143500"/>
                  </a:lnTo>
                  <a:lnTo>
                    <a:pt x="8977311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763" y="4762"/>
              <a:ext cx="161925" cy="5139055"/>
            </a:xfrm>
            <a:custGeom>
              <a:avLst/>
              <a:gdLst/>
              <a:ahLst/>
              <a:cxnLst/>
              <a:rect l="l" t="t" r="r" b="b"/>
              <a:pathLst>
                <a:path w="161925" h="5139055">
                  <a:moveTo>
                    <a:pt x="161925" y="0"/>
                  </a:moveTo>
                  <a:lnTo>
                    <a:pt x="0" y="0"/>
                  </a:lnTo>
                  <a:lnTo>
                    <a:pt x="0" y="5138737"/>
                  </a:lnTo>
                  <a:lnTo>
                    <a:pt x="161925" y="5138737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CC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63" y="4762"/>
              <a:ext cx="161925" cy="5139055"/>
            </a:xfrm>
            <a:custGeom>
              <a:avLst/>
              <a:gdLst/>
              <a:ahLst/>
              <a:cxnLst/>
              <a:rect l="l" t="t" r="r" b="b"/>
              <a:pathLst>
                <a:path w="161925" h="5139055">
                  <a:moveTo>
                    <a:pt x="161925" y="5138737"/>
                  </a:moveTo>
                  <a:lnTo>
                    <a:pt x="161925" y="0"/>
                  </a:lnTo>
                  <a:lnTo>
                    <a:pt x="0" y="0"/>
                  </a:lnTo>
                  <a:lnTo>
                    <a:pt x="0" y="5138737"/>
                  </a:lnTo>
                </a:path>
              </a:pathLst>
            </a:custGeom>
            <a:ln w="12700">
              <a:solidFill>
                <a:srgbClr val="CC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4799" y="914336"/>
              <a:ext cx="8472551" cy="334810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7200" y="1009650"/>
              <a:ext cx="8229600" cy="3105150"/>
            </a:xfrm>
            <a:custGeom>
              <a:avLst/>
              <a:gdLst/>
              <a:ahLst/>
              <a:cxnLst/>
              <a:rect l="l" t="t" r="r" b="b"/>
              <a:pathLst>
                <a:path w="8229600" h="3105150">
                  <a:moveTo>
                    <a:pt x="8229600" y="0"/>
                  </a:moveTo>
                  <a:lnTo>
                    <a:pt x="0" y="0"/>
                  </a:lnTo>
                  <a:lnTo>
                    <a:pt x="0" y="3105150"/>
                  </a:lnTo>
                  <a:lnTo>
                    <a:pt x="8229600" y="310515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16203D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57200" y="1009650"/>
              <a:ext cx="8229600" cy="3105150"/>
            </a:xfrm>
            <a:custGeom>
              <a:avLst/>
              <a:gdLst/>
              <a:ahLst/>
              <a:cxnLst/>
              <a:rect l="l" t="t" r="r" b="b"/>
              <a:pathLst>
                <a:path w="8229600" h="3105150">
                  <a:moveTo>
                    <a:pt x="0" y="3105150"/>
                  </a:moveTo>
                  <a:lnTo>
                    <a:pt x="8229600" y="310515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3105150"/>
                  </a:lnTo>
                  <a:close/>
                </a:path>
              </a:pathLst>
            </a:custGeom>
            <a:ln w="19050">
              <a:solidFill>
                <a:srgbClr val="CC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2896235" y="1252537"/>
            <a:ext cx="335915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E8B86C"/>
                </a:solidFill>
                <a:latin typeface="Calibri"/>
                <a:cs typeface="Calibri"/>
              </a:rPr>
              <a:t>PROJETO</a:t>
            </a:r>
            <a:r>
              <a:rPr dirty="0" sz="1250" spc="55" b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E8B86C"/>
                </a:solidFill>
                <a:latin typeface="Calibri"/>
                <a:cs typeface="Calibri"/>
              </a:rPr>
              <a:t>INTEGRADO</a:t>
            </a:r>
            <a:r>
              <a:rPr dirty="0" sz="1250" spc="150" b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E8B86C"/>
                </a:solidFill>
                <a:latin typeface="Calibri"/>
                <a:cs typeface="Calibri"/>
              </a:rPr>
              <a:t>MULTIDISCIPLINAR</a:t>
            </a:r>
            <a:r>
              <a:rPr dirty="0" sz="1250" spc="155" b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E8B86C"/>
                </a:solidFill>
                <a:latin typeface="Calibri"/>
                <a:cs typeface="Calibri"/>
              </a:rPr>
              <a:t>–</a:t>
            </a:r>
            <a:r>
              <a:rPr dirty="0" sz="1250" spc="125" b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E8B86C"/>
                </a:solidFill>
                <a:latin typeface="Calibri"/>
                <a:cs typeface="Calibri"/>
              </a:rPr>
              <a:t>PIM</a:t>
            </a:r>
            <a:r>
              <a:rPr dirty="0" sz="1250" spc="114" b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250" spc="-50" b="1">
                <a:solidFill>
                  <a:srgbClr val="E8B86C"/>
                </a:solidFill>
                <a:latin typeface="Calibri"/>
                <a:cs typeface="Calibri"/>
              </a:rPr>
              <a:t>I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70885" y="1800225"/>
            <a:ext cx="3605529" cy="103568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algn="ctr" marL="12700" marR="5080">
              <a:lnSpc>
                <a:spcPct val="103400"/>
              </a:lnSpc>
              <a:spcBef>
                <a:spcPts val="40"/>
              </a:spcBef>
            </a:pPr>
            <a:r>
              <a:rPr dirty="0" sz="2150" b="1">
                <a:solidFill>
                  <a:srgbClr val="FFFFFF"/>
                </a:solidFill>
                <a:latin typeface="Calibri"/>
                <a:cs typeface="Calibri"/>
              </a:rPr>
              <a:t>Análise</a:t>
            </a:r>
            <a:r>
              <a:rPr dirty="0" sz="2150" spc="6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FFFFFF"/>
                </a:solidFill>
                <a:latin typeface="Calibri"/>
                <a:cs typeface="Calibri"/>
              </a:rPr>
              <a:t>Tecnológica,</a:t>
            </a:r>
            <a:r>
              <a:rPr dirty="0" sz="2150" spc="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FFFFFF"/>
                </a:solidFill>
                <a:latin typeface="Calibri"/>
                <a:cs typeface="Calibri"/>
              </a:rPr>
              <a:t>Financeira </a:t>
            </a:r>
            <a:r>
              <a:rPr dirty="0" sz="215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2150" spc="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FFFFFF"/>
                </a:solidFill>
                <a:latin typeface="Calibri"/>
                <a:cs typeface="Calibri"/>
              </a:rPr>
              <a:t>Computacional</a:t>
            </a:r>
            <a:r>
              <a:rPr dirty="0" sz="2150" spc="7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dirty="0" sz="2150" spc="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50" spc="-20" b="1">
                <a:solidFill>
                  <a:srgbClr val="FFFFFF"/>
                </a:solidFill>
                <a:latin typeface="Calibri"/>
                <a:cs typeface="Calibri"/>
              </a:rPr>
              <a:t>Havan </a:t>
            </a:r>
            <a:r>
              <a:rPr dirty="0" sz="2150" b="1">
                <a:solidFill>
                  <a:srgbClr val="FFFFFF"/>
                </a:solidFill>
                <a:latin typeface="Calibri"/>
                <a:cs typeface="Calibri"/>
              </a:rPr>
              <a:t>utilizando</a:t>
            </a:r>
            <a:r>
              <a:rPr dirty="0" sz="2150" spc="7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FFFFFF"/>
                </a:solidFill>
                <a:latin typeface="Calibri"/>
                <a:cs typeface="Calibri"/>
              </a:rPr>
              <a:t>Estatística</a:t>
            </a:r>
            <a:r>
              <a:rPr dirty="0" sz="2150" spc="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5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2150" spc="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150" spc="-10" b="1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João</a:t>
            </a:r>
            <a:r>
              <a:rPr dirty="0" sz="1100" spc="-3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Victor</a:t>
            </a:r>
            <a:r>
              <a:rPr dirty="0" sz="1100" spc="-4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·</a:t>
            </a:r>
            <a:r>
              <a:rPr dirty="0" sz="1100" spc="-2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Gabriel</a:t>
            </a:r>
            <a:r>
              <a:rPr dirty="0" sz="1100" spc="1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Oliveira</a:t>
            </a:r>
            <a:r>
              <a:rPr dirty="0" sz="1100" spc="-4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·</a:t>
            </a:r>
            <a:r>
              <a:rPr dirty="0" sz="1100" spc="-2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Lara</a:t>
            </a:r>
            <a:r>
              <a:rPr dirty="0" sz="1100" spc="2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Aparecida</a:t>
            </a:r>
            <a:r>
              <a:rPr dirty="0" sz="1100" spc="3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·</a:t>
            </a:r>
            <a:r>
              <a:rPr dirty="0" sz="1100" spc="-2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89899A"/>
                </a:solidFill>
                <a:latin typeface="Calibri"/>
                <a:cs typeface="Calibri"/>
              </a:rPr>
              <a:t>Sthefany</a:t>
            </a:r>
            <a:r>
              <a:rPr dirty="0" sz="1100" spc="-1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89899A"/>
                </a:solidFill>
                <a:latin typeface="Calibri"/>
                <a:cs typeface="Calibri"/>
              </a:rPr>
              <a:t>Caroline</a:t>
            </a:r>
            <a:endParaRPr sz="1100">
              <a:latin typeface="Calibri"/>
              <a:cs typeface="Calibri"/>
            </a:endParaRPr>
          </a:p>
          <a:p>
            <a:pPr marL="2540">
              <a:lnSpc>
                <a:spcPct val="100000"/>
              </a:lnSpc>
              <a:spcBef>
                <a:spcPts val="645"/>
              </a:spcBef>
            </a:pPr>
            <a:endParaRPr sz="110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</a:pPr>
            <a:r>
              <a:rPr dirty="0" sz="950" spc="10">
                <a:solidFill>
                  <a:srgbClr val="89899A"/>
                </a:solidFill>
                <a:latin typeface="Calibri"/>
                <a:cs typeface="Calibri"/>
              </a:rPr>
              <a:t>UNIP</a:t>
            </a:r>
            <a:r>
              <a:rPr dirty="0" sz="950" spc="-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89899A"/>
                </a:solidFill>
                <a:latin typeface="Calibri"/>
                <a:cs typeface="Calibri"/>
              </a:rPr>
              <a:t>–</a:t>
            </a:r>
            <a:r>
              <a:rPr dirty="0" sz="950" spc="3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89899A"/>
                </a:solidFill>
                <a:latin typeface="Calibri"/>
                <a:cs typeface="Calibri"/>
              </a:rPr>
              <a:t>Análise</a:t>
            </a:r>
            <a:r>
              <a:rPr dirty="0" sz="950" spc="6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89899A"/>
                </a:solidFill>
                <a:latin typeface="Calibri"/>
                <a:cs typeface="Calibri"/>
              </a:rPr>
              <a:t>e</a:t>
            </a:r>
            <a:r>
              <a:rPr dirty="0" sz="950" spc="6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89899A"/>
                </a:solidFill>
                <a:latin typeface="Calibri"/>
                <a:cs typeface="Calibri"/>
              </a:rPr>
              <a:t>Desenvolvimento</a:t>
            </a:r>
            <a:r>
              <a:rPr dirty="0" sz="950" spc="3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89899A"/>
                </a:solidFill>
                <a:latin typeface="Calibri"/>
                <a:cs typeface="Calibri"/>
              </a:rPr>
              <a:t>de</a:t>
            </a:r>
            <a:r>
              <a:rPr dirty="0" sz="950" spc="6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89899A"/>
                </a:solidFill>
                <a:latin typeface="Calibri"/>
                <a:cs typeface="Calibri"/>
              </a:rPr>
              <a:t>Sistemas</a:t>
            </a:r>
            <a:r>
              <a:rPr dirty="0" sz="950" spc="254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950" spc="10">
                <a:solidFill>
                  <a:srgbClr val="89899A"/>
                </a:solidFill>
                <a:latin typeface="Calibri"/>
                <a:cs typeface="Calibri"/>
              </a:rPr>
              <a:t>|</a:t>
            </a:r>
            <a:r>
              <a:rPr dirty="0" sz="950" spc="34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89899A"/>
                </a:solidFill>
                <a:latin typeface="Calibri"/>
                <a:cs typeface="Calibri"/>
              </a:rPr>
              <a:t>2026</a:t>
            </a:r>
            <a:endParaRPr sz="95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14775" y="0"/>
            <a:ext cx="1314450" cy="1162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0"/>
              <a:t>SUMÁRIO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219075" y="828611"/>
            <a:ext cx="4262755" cy="890905"/>
            <a:chOff x="219075" y="828611"/>
            <a:chExt cx="4262755" cy="89090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075" y="828611"/>
              <a:ext cx="4262501" cy="89058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366712" y="919226"/>
              <a:ext cx="4029075" cy="657225"/>
            </a:xfrm>
            <a:custGeom>
              <a:avLst/>
              <a:gdLst/>
              <a:ahLst/>
              <a:cxnLst/>
              <a:rect l="l" t="t" r="r" b="b"/>
              <a:pathLst>
                <a:path w="4029075" h="657225">
                  <a:moveTo>
                    <a:pt x="0" y="657225"/>
                  </a:moveTo>
                  <a:lnTo>
                    <a:pt x="4029075" y="657225"/>
                  </a:lnTo>
                  <a:lnTo>
                    <a:pt x="4029075" y="0"/>
                  </a:lnTo>
                  <a:lnTo>
                    <a:pt x="0" y="0"/>
                  </a:lnTo>
                  <a:lnTo>
                    <a:pt x="0" y="657225"/>
                  </a:lnTo>
                  <a:close/>
                </a:path>
              </a:pathLst>
            </a:custGeom>
            <a:ln w="635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366712" y="919225"/>
            <a:ext cx="504825" cy="657225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203835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1605"/>
              </a:spcBef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71537" y="919225"/>
            <a:ext cx="3524250" cy="6572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501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95"/>
              </a:spcBef>
            </a:pPr>
            <a:endParaRPr sz="1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Introdução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 &amp;</a:t>
            </a:r>
            <a:r>
              <a:rPr dirty="0" sz="1200" spc="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Objetivos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19075" y="1695386"/>
            <a:ext cx="4262755" cy="890905"/>
            <a:chOff x="219075" y="1695386"/>
            <a:chExt cx="4262755" cy="89090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075" y="1695386"/>
              <a:ext cx="4262501" cy="89058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366712" y="1786000"/>
              <a:ext cx="4029075" cy="657225"/>
            </a:xfrm>
            <a:custGeom>
              <a:avLst/>
              <a:gdLst/>
              <a:ahLst/>
              <a:cxnLst/>
              <a:rect l="l" t="t" r="r" b="b"/>
              <a:pathLst>
                <a:path w="4029075" h="657225">
                  <a:moveTo>
                    <a:pt x="0" y="657225"/>
                  </a:moveTo>
                  <a:lnTo>
                    <a:pt x="4029075" y="657225"/>
                  </a:lnTo>
                  <a:lnTo>
                    <a:pt x="4029075" y="0"/>
                  </a:lnTo>
                  <a:lnTo>
                    <a:pt x="0" y="0"/>
                  </a:lnTo>
                  <a:lnTo>
                    <a:pt x="0" y="657225"/>
                  </a:lnTo>
                  <a:close/>
                </a:path>
              </a:pathLst>
            </a:custGeom>
            <a:ln w="635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 descr=""/>
          <p:cNvSpPr txBox="1"/>
          <p:nvPr/>
        </p:nvSpPr>
        <p:spPr>
          <a:xfrm>
            <a:off x="366712" y="1786001"/>
            <a:ext cx="504825" cy="657225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71537" y="1786001"/>
            <a:ext cx="3524250" cy="6572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533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endParaRPr sz="1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  <a:spcBef>
                <a:spcPts val="5"/>
              </a:spcBef>
            </a:pP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Política</a:t>
            </a:r>
            <a:r>
              <a:rPr dirty="0" sz="12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200" spc="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Privacidade</a:t>
            </a:r>
            <a:r>
              <a:rPr dirty="0" sz="12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e</a:t>
            </a:r>
            <a:r>
              <a:rPr dirty="0" sz="1200" spc="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1A1A2D"/>
                </a:solidFill>
                <a:latin typeface="Calibri"/>
                <a:cs typeface="Calibri"/>
              </a:rPr>
              <a:t>LGPD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219075" y="2562161"/>
            <a:ext cx="4262755" cy="900430"/>
            <a:chOff x="219075" y="2562161"/>
            <a:chExt cx="4262755" cy="900430"/>
          </a:xfrm>
        </p:grpSpPr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075" y="2562161"/>
              <a:ext cx="4262501" cy="900112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366712" y="2652775"/>
              <a:ext cx="4029075" cy="666750"/>
            </a:xfrm>
            <a:custGeom>
              <a:avLst/>
              <a:gdLst/>
              <a:ahLst/>
              <a:cxnLst/>
              <a:rect l="l" t="t" r="r" b="b"/>
              <a:pathLst>
                <a:path w="4029075" h="666750">
                  <a:moveTo>
                    <a:pt x="0" y="666750"/>
                  </a:moveTo>
                  <a:lnTo>
                    <a:pt x="4029075" y="666750"/>
                  </a:lnTo>
                  <a:lnTo>
                    <a:pt x="4029075" y="0"/>
                  </a:lnTo>
                  <a:lnTo>
                    <a:pt x="0" y="0"/>
                  </a:lnTo>
                  <a:lnTo>
                    <a:pt x="0" y="666750"/>
                  </a:lnTo>
                  <a:close/>
                </a:path>
              </a:pathLst>
            </a:custGeom>
            <a:ln w="635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366712" y="2652776"/>
            <a:ext cx="504825" cy="666750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871537" y="2652776"/>
            <a:ext cx="3524250" cy="6667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571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Vazamento</a:t>
            </a:r>
            <a:r>
              <a:rPr dirty="0" sz="12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de Dados</a:t>
            </a:r>
            <a:r>
              <a:rPr dirty="0" sz="12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&amp;</a:t>
            </a:r>
            <a:r>
              <a:rPr dirty="0" sz="12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Problemas</a:t>
            </a:r>
            <a:r>
              <a:rPr dirty="0" sz="12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Ambientais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219075" y="3438525"/>
            <a:ext cx="4262755" cy="890905"/>
            <a:chOff x="219075" y="3438525"/>
            <a:chExt cx="4262755" cy="890905"/>
          </a:xfrm>
        </p:grpSpPr>
        <p:pic>
          <p:nvPicPr>
            <p:cNvPr id="19" name="object 1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9075" y="3438525"/>
              <a:ext cx="4262501" cy="890587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366712" y="3529012"/>
              <a:ext cx="4029075" cy="657225"/>
            </a:xfrm>
            <a:custGeom>
              <a:avLst/>
              <a:gdLst/>
              <a:ahLst/>
              <a:cxnLst/>
              <a:rect l="l" t="t" r="r" b="b"/>
              <a:pathLst>
                <a:path w="4029075" h="657225">
                  <a:moveTo>
                    <a:pt x="0" y="657225"/>
                  </a:moveTo>
                  <a:lnTo>
                    <a:pt x="4029075" y="657225"/>
                  </a:lnTo>
                  <a:lnTo>
                    <a:pt x="4029075" y="0"/>
                  </a:lnTo>
                  <a:lnTo>
                    <a:pt x="0" y="0"/>
                  </a:lnTo>
                  <a:lnTo>
                    <a:pt x="0" y="657225"/>
                  </a:lnTo>
                  <a:close/>
                </a:path>
              </a:pathLst>
            </a:custGeom>
            <a:ln w="635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/>
          <p:nvPr/>
        </p:nvSpPr>
        <p:spPr>
          <a:xfrm>
            <a:off x="366712" y="3529012"/>
            <a:ext cx="504825" cy="657225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400">
              <a:latin typeface="Times New Roman"/>
              <a:cs typeface="Times New Roman"/>
            </a:endParaRPr>
          </a:p>
          <a:p>
            <a:pPr marL="160020">
              <a:lnSpc>
                <a:spcPct val="100000"/>
              </a:lnSpc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71537" y="3529012"/>
            <a:ext cx="3524250" cy="6572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200">
              <a:latin typeface="Times New Roman"/>
              <a:cs typeface="Times New Roman"/>
            </a:endParaRPr>
          </a:p>
          <a:p>
            <a:pPr marL="180975">
              <a:lnSpc>
                <a:spcPct val="100000"/>
              </a:lnSpc>
            </a:pP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Análise</a:t>
            </a:r>
            <a:r>
              <a:rPr dirty="0" sz="1200" spc="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Preditiva</a:t>
            </a:r>
            <a:r>
              <a:rPr dirty="0" sz="1200" spc="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e</a:t>
            </a:r>
            <a:r>
              <a:rPr dirty="0" sz="1200" spc="-5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Estatística</a:t>
            </a:r>
            <a:r>
              <a:rPr dirty="0" sz="12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Financeira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3" name="object 23" descr=""/>
          <p:cNvGrpSpPr/>
          <p:nvPr/>
        </p:nvGrpSpPr>
        <p:grpSpPr>
          <a:xfrm>
            <a:off x="4610100" y="828611"/>
            <a:ext cx="4262755" cy="890905"/>
            <a:chOff x="4610100" y="828611"/>
            <a:chExt cx="4262755" cy="890905"/>
          </a:xfrm>
        </p:grpSpPr>
        <p:pic>
          <p:nvPicPr>
            <p:cNvPr id="24" name="object 2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0100" y="828611"/>
              <a:ext cx="4262501" cy="890587"/>
            </a:xfrm>
            <a:prstGeom prst="rect">
              <a:avLst/>
            </a:prstGeom>
          </p:spPr>
        </p:pic>
        <p:sp>
          <p:nvSpPr>
            <p:cNvPr id="25" name="object 25" descr=""/>
            <p:cNvSpPr/>
            <p:nvPr/>
          </p:nvSpPr>
          <p:spPr>
            <a:xfrm>
              <a:off x="5262626" y="919226"/>
              <a:ext cx="3524250" cy="657225"/>
            </a:xfrm>
            <a:custGeom>
              <a:avLst/>
              <a:gdLst/>
              <a:ahLst/>
              <a:cxnLst/>
              <a:rect l="l" t="t" r="r" b="b"/>
              <a:pathLst>
                <a:path w="3524250" h="657225">
                  <a:moveTo>
                    <a:pt x="0" y="657225"/>
                  </a:moveTo>
                  <a:lnTo>
                    <a:pt x="3524250" y="657225"/>
                  </a:lnTo>
                  <a:lnTo>
                    <a:pt x="3524250" y="0"/>
                  </a:lnTo>
                  <a:lnTo>
                    <a:pt x="0" y="0"/>
                  </a:lnTo>
                  <a:lnTo>
                    <a:pt x="0" y="65722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4757801" y="919226"/>
              <a:ext cx="4029075" cy="657225"/>
            </a:xfrm>
            <a:custGeom>
              <a:avLst/>
              <a:gdLst/>
              <a:ahLst/>
              <a:cxnLst/>
              <a:rect l="l" t="t" r="r" b="b"/>
              <a:pathLst>
                <a:path w="4029075" h="657225">
                  <a:moveTo>
                    <a:pt x="0" y="657225"/>
                  </a:moveTo>
                  <a:lnTo>
                    <a:pt x="4029075" y="657225"/>
                  </a:lnTo>
                  <a:lnTo>
                    <a:pt x="4029075" y="0"/>
                  </a:lnTo>
                  <a:lnTo>
                    <a:pt x="0" y="0"/>
                  </a:lnTo>
                  <a:lnTo>
                    <a:pt x="0" y="657225"/>
                  </a:lnTo>
                  <a:close/>
                </a:path>
              </a:pathLst>
            </a:custGeom>
            <a:ln w="635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4757801" y="919225"/>
            <a:ext cx="504825" cy="657225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203835" rIns="0" bIns="0" rtlCol="0" vert="horz">
            <a:spAutoFit/>
          </a:bodyPr>
          <a:lstStyle/>
          <a:p>
            <a:pPr marL="162560">
              <a:lnSpc>
                <a:spcPct val="100000"/>
              </a:lnSpc>
              <a:spcBef>
                <a:spcPts val="1605"/>
              </a:spcBef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5268976" y="1131887"/>
            <a:ext cx="35147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7165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Infraestrutura</a:t>
            </a:r>
            <a:r>
              <a:rPr dirty="0" sz="12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Computacional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4610100" y="1695386"/>
            <a:ext cx="4262755" cy="890905"/>
            <a:chOff x="4610100" y="1695386"/>
            <a:chExt cx="4262755" cy="890905"/>
          </a:xfrm>
        </p:grpSpPr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0100" y="1695386"/>
              <a:ext cx="4262501" cy="89058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4757801" y="1786000"/>
              <a:ext cx="4029075" cy="657225"/>
            </a:xfrm>
            <a:custGeom>
              <a:avLst/>
              <a:gdLst/>
              <a:ahLst/>
              <a:cxnLst/>
              <a:rect l="l" t="t" r="r" b="b"/>
              <a:pathLst>
                <a:path w="4029075" h="657225">
                  <a:moveTo>
                    <a:pt x="0" y="657225"/>
                  </a:moveTo>
                  <a:lnTo>
                    <a:pt x="4029075" y="657225"/>
                  </a:lnTo>
                  <a:lnTo>
                    <a:pt x="4029075" y="0"/>
                  </a:lnTo>
                  <a:lnTo>
                    <a:pt x="0" y="0"/>
                  </a:lnTo>
                  <a:lnTo>
                    <a:pt x="0" y="657225"/>
                  </a:lnTo>
                  <a:close/>
                </a:path>
              </a:pathLst>
            </a:custGeom>
            <a:ln w="635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4757801" y="1786001"/>
            <a:ext cx="504825" cy="657225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31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endParaRPr sz="1400">
              <a:latin typeface="Times New Roman"/>
              <a:cs typeface="Times New Roman"/>
            </a:endParaRPr>
          </a:p>
          <a:p>
            <a:pPr marL="162560">
              <a:lnSpc>
                <a:spcPct val="100000"/>
              </a:lnSpc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06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5262626" y="1786001"/>
            <a:ext cx="3524250" cy="65722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5334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0"/>
              </a:spcBef>
            </a:pPr>
            <a:endParaRPr sz="12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Automação</a:t>
            </a:r>
            <a:r>
              <a:rPr dirty="0" sz="12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Financeira</a:t>
            </a:r>
            <a:r>
              <a:rPr dirty="0" sz="1200" spc="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com</a:t>
            </a:r>
            <a:r>
              <a:rPr dirty="0" sz="1200" spc="-6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Python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4610100" y="2562161"/>
            <a:ext cx="4262755" cy="900430"/>
            <a:chOff x="4610100" y="2562161"/>
            <a:chExt cx="4262755" cy="900430"/>
          </a:xfrm>
        </p:grpSpPr>
        <p:pic>
          <p:nvPicPr>
            <p:cNvPr id="35" name="object 3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10100" y="2562161"/>
              <a:ext cx="4262501" cy="900112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4757801" y="2652775"/>
              <a:ext cx="4029075" cy="666750"/>
            </a:xfrm>
            <a:custGeom>
              <a:avLst/>
              <a:gdLst/>
              <a:ahLst/>
              <a:cxnLst/>
              <a:rect l="l" t="t" r="r" b="b"/>
              <a:pathLst>
                <a:path w="4029075" h="666750">
                  <a:moveTo>
                    <a:pt x="0" y="666750"/>
                  </a:moveTo>
                  <a:lnTo>
                    <a:pt x="4029075" y="666750"/>
                  </a:lnTo>
                  <a:lnTo>
                    <a:pt x="4029075" y="0"/>
                  </a:lnTo>
                  <a:lnTo>
                    <a:pt x="0" y="0"/>
                  </a:lnTo>
                  <a:lnTo>
                    <a:pt x="0" y="666750"/>
                  </a:lnTo>
                  <a:close/>
                </a:path>
              </a:pathLst>
            </a:custGeom>
            <a:ln w="635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4757801" y="2652776"/>
            <a:ext cx="504825" cy="666750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698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imes New Roman"/>
              <a:cs typeface="Times New Roman"/>
            </a:endParaRPr>
          </a:p>
          <a:p>
            <a:pPr marL="162560">
              <a:lnSpc>
                <a:spcPct val="100000"/>
              </a:lnSpc>
            </a:pPr>
            <a:r>
              <a:rPr dirty="0" sz="1400" spc="-25" b="1">
                <a:solidFill>
                  <a:srgbClr val="FFFFFF"/>
                </a:solidFill>
                <a:latin typeface="Calibri"/>
                <a:cs typeface="Calibri"/>
              </a:rPr>
              <a:t>07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5262626" y="2652776"/>
            <a:ext cx="3524250" cy="66675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571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0"/>
              </a:spcBef>
            </a:pPr>
            <a:endParaRPr sz="1200">
              <a:latin typeface="Times New Roman"/>
              <a:cs typeface="Times New Roman"/>
            </a:endParaRPr>
          </a:p>
          <a:p>
            <a:pPr marL="183515">
              <a:lnSpc>
                <a:spcPct val="100000"/>
              </a:lnSpc>
              <a:spcBef>
                <a:spcPts val="5"/>
              </a:spcBef>
            </a:pP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Conclusão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800975" y="0"/>
            <a:ext cx="1323975" cy="10191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A1A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1586" y="-1523"/>
            <a:ext cx="9152255" cy="698500"/>
            <a:chOff x="-1586" y="-1523"/>
            <a:chExt cx="9152255" cy="698500"/>
          </a:xfrm>
        </p:grpSpPr>
        <p:sp>
          <p:nvSpPr>
            <p:cNvPr id="4" name="object 4" descr=""/>
            <p:cNvSpPr/>
            <p:nvPr/>
          </p:nvSpPr>
          <p:spPr>
            <a:xfrm>
              <a:off x="4763" y="4826"/>
              <a:ext cx="9139555" cy="685800"/>
            </a:xfrm>
            <a:custGeom>
              <a:avLst/>
              <a:gdLst/>
              <a:ahLst/>
              <a:cxnLst/>
              <a:rect l="l" t="t" r="r" b="b"/>
              <a:pathLst>
                <a:path w="9139555" h="685800">
                  <a:moveTo>
                    <a:pt x="9139236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39236" y="6858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CC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63" y="4826"/>
              <a:ext cx="9139555" cy="685800"/>
            </a:xfrm>
            <a:custGeom>
              <a:avLst/>
              <a:gdLst/>
              <a:ahLst/>
              <a:cxnLst/>
              <a:rect l="l" t="t" r="r" b="b"/>
              <a:pathLst>
                <a:path w="9139555" h="685800">
                  <a:moveTo>
                    <a:pt x="9139236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39236" y="685800"/>
                  </a:lnTo>
                </a:path>
              </a:pathLst>
            </a:custGeom>
            <a:ln w="12700">
              <a:solidFill>
                <a:srgbClr val="CC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/>
              <a:t>01</a:t>
            </a:r>
            <a:r>
              <a:rPr dirty="0" sz="1800" spc="340"/>
              <a:t> </a:t>
            </a:r>
            <a:r>
              <a:rPr dirty="0" sz="1800"/>
              <a:t>INTRODUÇÃO</a:t>
            </a:r>
            <a:r>
              <a:rPr dirty="0" sz="1800" spc="-15"/>
              <a:t> </a:t>
            </a:r>
            <a:r>
              <a:rPr dirty="0" sz="1800"/>
              <a:t>&amp;</a:t>
            </a:r>
            <a:r>
              <a:rPr dirty="0" sz="1800" spc="-60"/>
              <a:t> </a:t>
            </a:r>
            <a:r>
              <a:rPr dirty="0" sz="1800" spc="-10"/>
              <a:t>OBJETIVOS</a:t>
            </a:r>
            <a:endParaRPr sz="1800"/>
          </a:p>
        </p:txBody>
      </p:sp>
      <p:grpSp>
        <p:nvGrpSpPr>
          <p:cNvPr id="7" name="object 7" descr=""/>
          <p:cNvGrpSpPr/>
          <p:nvPr/>
        </p:nvGrpSpPr>
        <p:grpSpPr>
          <a:xfrm>
            <a:off x="133350" y="780986"/>
            <a:ext cx="4348480" cy="3434079"/>
            <a:chOff x="133350" y="780986"/>
            <a:chExt cx="4348480" cy="3434079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350" y="780986"/>
              <a:ext cx="4348226" cy="3433826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280987" y="871537"/>
              <a:ext cx="4114800" cy="3200400"/>
            </a:xfrm>
            <a:custGeom>
              <a:avLst/>
              <a:gdLst/>
              <a:ahLst/>
              <a:cxnLst/>
              <a:rect l="l" t="t" r="r" b="b"/>
              <a:pathLst>
                <a:path w="4114800" h="3200400">
                  <a:moveTo>
                    <a:pt x="0" y="3200400"/>
                  </a:moveTo>
                  <a:lnTo>
                    <a:pt x="4114800" y="32004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3200400"/>
                  </a:lnTo>
                  <a:close/>
                </a:path>
              </a:pathLst>
            </a:custGeom>
            <a:ln w="12700">
              <a:solidFill>
                <a:srgbClr val="0E34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280987" y="871569"/>
            <a:ext cx="4114800" cy="391160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675"/>
              </a:spcBef>
            </a:pP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Contexto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280987" y="1262125"/>
            <a:ext cx="4114800" cy="2809875"/>
          </a:xfrm>
          <a:prstGeom prst="rect">
            <a:avLst/>
          </a:prstGeom>
          <a:solidFill>
            <a:srgbClr val="16203D"/>
          </a:solidFill>
        </p:spPr>
        <p:txBody>
          <a:bodyPr wrap="square" lIns="0" tIns="97155" rIns="0" bIns="0" rtlCol="0" vert="horz">
            <a:spAutoFit/>
          </a:bodyPr>
          <a:lstStyle/>
          <a:p>
            <a:pPr algn="just" marL="222250" marR="231140">
              <a:lnSpc>
                <a:spcPct val="105300"/>
              </a:lnSpc>
              <a:spcBef>
                <a:spcPts val="76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Grandes</a:t>
            </a:r>
            <a:r>
              <a:rPr dirty="0" sz="1100" spc="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empresas</a:t>
            </a:r>
            <a:r>
              <a:rPr dirty="0" sz="11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precisam</a:t>
            </a:r>
            <a:r>
              <a:rPr dirty="0" sz="11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seguir</a:t>
            </a:r>
            <a:r>
              <a:rPr dirty="0" sz="11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normas</a:t>
            </a:r>
            <a:r>
              <a:rPr dirty="0" sz="1100" spc="2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éticas,</a:t>
            </a:r>
            <a:r>
              <a:rPr dirty="0" sz="11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investir</a:t>
            </a:r>
            <a:r>
              <a:rPr dirty="0" sz="11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em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segurança</a:t>
            </a:r>
            <a:r>
              <a:rPr dirty="0" sz="11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dirty="0" sz="11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informação</a:t>
            </a:r>
            <a:r>
              <a:rPr dirty="0" sz="11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100" spc="2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manter</a:t>
            </a:r>
            <a:r>
              <a:rPr dirty="0" sz="1100" spc="1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infraestrutura</a:t>
            </a:r>
            <a:r>
              <a:rPr dirty="0" sz="1100" spc="1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tecnológica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eficiente</a:t>
            </a:r>
            <a:r>
              <a:rPr dirty="0" sz="110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dirty="0" sz="11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garantir</a:t>
            </a:r>
            <a:r>
              <a:rPr dirty="0" sz="1100" spc="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estabilidade</a:t>
            </a:r>
            <a:r>
              <a:rPr dirty="0" sz="11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operacional</a:t>
            </a:r>
            <a:r>
              <a:rPr dirty="0" sz="1100" spc="1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100">
              <a:latin typeface="Calibri"/>
              <a:cs typeface="Calibri"/>
            </a:endParaRPr>
          </a:p>
          <a:p>
            <a:pPr algn="just" marL="222250">
              <a:lnSpc>
                <a:spcPct val="100000"/>
              </a:lnSpc>
              <a:spcBef>
                <a:spcPts val="105"/>
              </a:spcBef>
            </a:pP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crescimento</a:t>
            </a:r>
            <a:r>
              <a:rPr dirty="0" sz="11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financeiro</a:t>
            </a:r>
            <a:r>
              <a:rPr dirty="0" sz="11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sustentável.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4610100" y="780986"/>
            <a:ext cx="4348480" cy="3434079"/>
            <a:chOff x="4610100" y="780986"/>
            <a:chExt cx="4348480" cy="3434079"/>
          </a:xfrm>
        </p:grpSpPr>
        <p:pic>
          <p:nvPicPr>
            <p:cNvPr id="13" name="object 1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10100" y="780986"/>
              <a:ext cx="4348226" cy="3433826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4757801" y="871537"/>
              <a:ext cx="4114800" cy="3200400"/>
            </a:xfrm>
            <a:custGeom>
              <a:avLst/>
              <a:gdLst/>
              <a:ahLst/>
              <a:cxnLst/>
              <a:rect l="l" t="t" r="r" b="b"/>
              <a:pathLst>
                <a:path w="4114800" h="3200400">
                  <a:moveTo>
                    <a:pt x="0" y="3200400"/>
                  </a:moveTo>
                  <a:lnTo>
                    <a:pt x="4114800" y="3200400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3200400"/>
                  </a:lnTo>
                  <a:close/>
                </a:path>
              </a:pathLst>
            </a:custGeom>
            <a:ln w="12700">
              <a:solidFill>
                <a:srgbClr val="0E34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757801" y="871600"/>
              <a:ext cx="4114800" cy="390525"/>
            </a:xfrm>
            <a:custGeom>
              <a:avLst/>
              <a:gdLst/>
              <a:ahLst/>
              <a:cxnLst/>
              <a:rect l="l" t="t" r="r" b="b"/>
              <a:pathLst>
                <a:path w="4114800" h="390525">
                  <a:moveTo>
                    <a:pt x="4114800" y="0"/>
                  </a:moveTo>
                  <a:lnTo>
                    <a:pt x="0" y="0"/>
                  </a:lnTo>
                  <a:lnTo>
                    <a:pt x="0" y="390525"/>
                  </a:lnTo>
                  <a:lnTo>
                    <a:pt x="4114800" y="390525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CC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4757801" y="871600"/>
              <a:ext cx="4114800" cy="390525"/>
            </a:xfrm>
            <a:custGeom>
              <a:avLst/>
              <a:gdLst/>
              <a:ahLst/>
              <a:cxnLst/>
              <a:rect l="l" t="t" r="r" b="b"/>
              <a:pathLst>
                <a:path w="4114800" h="390525">
                  <a:moveTo>
                    <a:pt x="0" y="390525"/>
                  </a:moveTo>
                  <a:lnTo>
                    <a:pt x="4114800" y="390525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390525"/>
                  </a:lnTo>
                  <a:close/>
                </a:path>
              </a:pathLst>
            </a:custGeom>
            <a:ln w="12700">
              <a:solidFill>
                <a:srgbClr val="CC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4764151" y="941006"/>
            <a:ext cx="410210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8435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Objetivo</a:t>
            </a:r>
            <a:r>
              <a:rPr dirty="0" sz="1250" spc="13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20" b="1">
                <a:solidFill>
                  <a:srgbClr val="FFFFFF"/>
                </a:solidFill>
                <a:latin typeface="Calibri"/>
                <a:cs typeface="Calibri"/>
              </a:rPr>
              <a:t>Geral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757801" y="1262125"/>
            <a:ext cx="4114800" cy="2809875"/>
          </a:xfrm>
          <a:prstGeom prst="rect">
            <a:avLst/>
          </a:prstGeom>
          <a:solidFill>
            <a:srgbClr val="16203D"/>
          </a:solidFill>
        </p:spPr>
        <p:txBody>
          <a:bodyPr wrap="square" lIns="0" tIns="106045" rIns="0" bIns="0" rtlCol="0" vert="horz">
            <a:spAutoFit/>
          </a:bodyPr>
          <a:lstStyle/>
          <a:p>
            <a:pPr marL="230504">
              <a:lnSpc>
                <a:spcPct val="100000"/>
              </a:lnSpc>
              <a:spcBef>
                <a:spcPts val="83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Analisar</a:t>
            </a:r>
            <a:r>
              <a:rPr dirty="0" sz="11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55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dirty="0" sz="11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aspectos</a:t>
            </a:r>
            <a:r>
              <a:rPr dirty="0" sz="11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financeiros,</a:t>
            </a:r>
            <a:r>
              <a:rPr dirty="0" sz="1100" spc="1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tecnológicos,</a:t>
            </a:r>
            <a:endParaRPr sz="1100">
              <a:latin typeface="Calibri"/>
              <a:cs typeface="Calibri"/>
            </a:endParaRPr>
          </a:p>
          <a:p>
            <a:pPr marL="230504" marR="332740">
              <a:lnSpc>
                <a:spcPct val="102400"/>
              </a:lnSpc>
              <a:spcBef>
                <a:spcPts val="7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computacionais</a:t>
            </a:r>
            <a:r>
              <a:rPr dirty="0" sz="11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1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éticos</a:t>
            </a:r>
            <a:r>
              <a:rPr dirty="0" sz="11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dirty="0" sz="11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Havan</a:t>
            </a:r>
            <a:r>
              <a:rPr dirty="0" sz="110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usando</a:t>
            </a:r>
            <a:r>
              <a:rPr dirty="0" sz="11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análise</a:t>
            </a:r>
            <a:r>
              <a:rPr dirty="0" sz="11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dados,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matemática</a:t>
            </a:r>
            <a:r>
              <a:rPr dirty="0" sz="1100" spc="1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estatística,</a:t>
            </a:r>
            <a:r>
              <a:rPr dirty="0" sz="110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infraestrutura</a:t>
            </a:r>
            <a:r>
              <a:rPr dirty="0" sz="11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computacional</a:t>
            </a:r>
            <a:r>
              <a:rPr dirty="0" sz="1100" spc="10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5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endParaRPr sz="1100">
              <a:latin typeface="Calibri"/>
              <a:cs typeface="Calibri"/>
            </a:endParaRPr>
          </a:p>
          <a:p>
            <a:pPr marL="230504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automação</a:t>
            </a:r>
            <a:r>
              <a:rPr dirty="0" sz="110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dirty="0" sz="110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Python.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353377" y="4398327"/>
            <a:ext cx="8042909" cy="347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Metodologia:</a:t>
            </a:r>
            <a:r>
              <a:rPr dirty="0" sz="1050" spc="15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E8B86C"/>
                </a:solidFill>
                <a:latin typeface="Calibri"/>
                <a:cs typeface="Calibri"/>
              </a:rPr>
              <a:t>pesquisa</a:t>
            </a:r>
            <a:r>
              <a:rPr dirty="0" sz="1050" spc="-2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bibliográfica,</a:t>
            </a:r>
            <a:r>
              <a:rPr dirty="0" sz="1050" spc="3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análise</a:t>
            </a:r>
            <a:r>
              <a:rPr dirty="0" sz="1050" spc="2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E8B86C"/>
                </a:solidFill>
                <a:latin typeface="Calibri"/>
                <a:cs typeface="Calibri"/>
              </a:rPr>
              <a:t>documental</a:t>
            </a:r>
            <a:r>
              <a:rPr dirty="0" sz="1050" spc="-25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e</a:t>
            </a:r>
            <a:r>
              <a:rPr dirty="0" sz="1050" spc="2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estudo</a:t>
            </a:r>
            <a:r>
              <a:rPr dirty="0" sz="1050" spc="-2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de</a:t>
            </a:r>
            <a:r>
              <a:rPr dirty="0" sz="1050" spc="-6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caso</a:t>
            </a:r>
            <a:r>
              <a:rPr dirty="0" sz="1050" spc="-2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com</a:t>
            </a:r>
            <a:r>
              <a:rPr dirty="0" sz="1050" spc="-1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dados</a:t>
            </a:r>
            <a:r>
              <a:rPr dirty="0" sz="1050" spc="4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E8B86C"/>
                </a:solidFill>
                <a:latin typeface="Calibri"/>
                <a:cs typeface="Calibri"/>
              </a:rPr>
              <a:t>públicos</a:t>
            </a:r>
            <a:r>
              <a:rPr dirty="0" sz="1050" spc="-4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da</a:t>
            </a:r>
            <a:r>
              <a:rPr dirty="0" sz="1050" spc="55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E8B86C"/>
                </a:solidFill>
                <a:latin typeface="Calibri"/>
                <a:cs typeface="Calibri"/>
              </a:rPr>
              <a:t>Havan</a:t>
            </a:r>
            <a:r>
              <a:rPr dirty="0" sz="1050" spc="-2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+</a:t>
            </a:r>
            <a:r>
              <a:rPr dirty="0" sz="1050" spc="-5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programa</a:t>
            </a:r>
            <a:r>
              <a:rPr dirty="0" sz="1050" spc="-25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Python</a:t>
            </a:r>
            <a:r>
              <a:rPr dirty="0" sz="1050" spc="-2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para</a:t>
            </a:r>
            <a:r>
              <a:rPr dirty="0" sz="1050" spc="-2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E8B86C"/>
                </a:solidFill>
                <a:latin typeface="Calibri"/>
                <a:cs typeface="Calibri"/>
              </a:rPr>
              <a:t>automatização</a:t>
            </a:r>
            <a:r>
              <a:rPr dirty="0" sz="1050" spc="-20" i="1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1050" spc="-25" i="1">
                <a:solidFill>
                  <a:srgbClr val="E8B86C"/>
                </a:solidFill>
                <a:latin typeface="Calibri"/>
                <a:cs typeface="Calibri"/>
              </a:rPr>
              <a:t>dos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050" spc="-10" i="1">
                <a:solidFill>
                  <a:srgbClr val="E8B86C"/>
                </a:solidFill>
                <a:latin typeface="Calibri"/>
                <a:cs typeface="Calibri"/>
              </a:rPr>
              <a:t>cálculos.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05700" y="0"/>
            <a:ext cx="1314450" cy="1076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/>
              <a:t>02</a:t>
            </a:r>
            <a:r>
              <a:rPr dirty="0" sz="1800" spc="385"/>
              <a:t> </a:t>
            </a:r>
            <a:r>
              <a:rPr dirty="0" sz="1800"/>
              <a:t>POLÍTICA</a:t>
            </a:r>
            <a:r>
              <a:rPr dirty="0" sz="1800" spc="-10"/>
              <a:t> </a:t>
            </a:r>
            <a:r>
              <a:rPr dirty="0" sz="1800"/>
              <a:t>DE</a:t>
            </a:r>
            <a:r>
              <a:rPr dirty="0" sz="1800" spc="-25"/>
              <a:t> </a:t>
            </a:r>
            <a:r>
              <a:rPr dirty="0" sz="1800" spc="-20"/>
              <a:t>PRIVACIDADE</a:t>
            </a:r>
            <a:r>
              <a:rPr dirty="0" sz="1800" spc="-25"/>
              <a:t> </a:t>
            </a:r>
            <a:r>
              <a:rPr dirty="0" sz="1800"/>
              <a:t>&amp;</a:t>
            </a:r>
            <a:r>
              <a:rPr dirty="0" sz="1800" spc="35"/>
              <a:t> </a:t>
            </a:r>
            <a:r>
              <a:rPr dirty="0" sz="1800" spc="-20"/>
              <a:t>LGPD</a:t>
            </a:r>
            <a:endParaRPr sz="1800"/>
          </a:p>
        </p:txBody>
      </p:sp>
      <p:sp>
        <p:nvSpPr>
          <p:cNvPr id="3" name="object 3" descr=""/>
          <p:cNvSpPr txBox="1"/>
          <p:nvPr/>
        </p:nvSpPr>
        <p:spPr>
          <a:xfrm>
            <a:off x="445134" y="985456"/>
            <a:ext cx="7839075" cy="390525"/>
          </a:xfrm>
          <a:prstGeom prst="rect">
            <a:avLst/>
          </a:prstGeom>
        </p:spPr>
        <p:txBody>
          <a:bodyPr wrap="square" lIns="0" tIns="19685" rIns="0" bIns="0" rtlCol="0" vert="horz">
            <a:spAutoFit/>
          </a:bodyPr>
          <a:lstStyle/>
          <a:p>
            <a:pPr marL="12700" marR="5080">
              <a:lnSpc>
                <a:spcPts val="1430"/>
              </a:lnSpc>
              <a:spcBef>
                <a:spcPts val="155"/>
              </a:spcBef>
            </a:pP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A</a:t>
            </a:r>
            <a:r>
              <a:rPr dirty="0" sz="12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Havan</a:t>
            </a:r>
            <a:r>
              <a:rPr dirty="0" sz="12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coleta</a:t>
            </a:r>
            <a:r>
              <a:rPr dirty="0" sz="12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dados</a:t>
            </a:r>
            <a:r>
              <a:rPr dirty="0" sz="12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com</a:t>
            </a:r>
            <a:r>
              <a:rPr dirty="0" sz="1200" spc="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autorização</a:t>
            </a:r>
            <a:r>
              <a:rPr dirty="0" sz="12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do</a:t>
            </a:r>
            <a:r>
              <a:rPr dirty="0" sz="12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usuário</a:t>
            </a:r>
            <a:r>
              <a:rPr dirty="0" sz="12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para</a:t>
            </a:r>
            <a:r>
              <a:rPr dirty="0" sz="12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efetivar</a:t>
            </a:r>
            <a:r>
              <a:rPr dirty="0" sz="12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compras.</a:t>
            </a:r>
            <a:r>
              <a:rPr dirty="0" sz="12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A</a:t>
            </a:r>
            <a:r>
              <a:rPr dirty="0" sz="12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empresa</a:t>
            </a:r>
            <a:r>
              <a:rPr dirty="0" sz="12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segue</a:t>
            </a:r>
            <a:r>
              <a:rPr dirty="0" sz="12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a</a:t>
            </a:r>
            <a:r>
              <a:rPr dirty="0" sz="12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LGPD</a:t>
            </a:r>
            <a:r>
              <a:rPr dirty="0" sz="1200" spc="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(Lei</a:t>
            </a:r>
            <a:r>
              <a:rPr dirty="0" sz="1200" spc="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Federal</a:t>
            </a:r>
            <a:r>
              <a:rPr dirty="0" sz="12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55">
                <a:solidFill>
                  <a:srgbClr val="1A1A2D"/>
                </a:solidFill>
                <a:latin typeface="Calibri"/>
                <a:cs typeface="Calibri"/>
              </a:rPr>
              <a:t>n°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13.709/18)</a:t>
            </a:r>
            <a:r>
              <a:rPr dirty="0" sz="1200" spc="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50">
                <a:solidFill>
                  <a:srgbClr val="1A1A2D"/>
                </a:solidFill>
                <a:latin typeface="Calibri"/>
                <a:cs typeface="Calibri"/>
              </a:rPr>
              <a:t>e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compartilha</a:t>
            </a:r>
            <a:r>
              <a:rPr dirty="0" sz="12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dados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apenas</a:t>
            </a:r>
            <a:r>
              <a:rPr dirty="0" sz="12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com</a:t>
            </a:r>
            <a:r>
              <a:rPr dirty="0" sz="1200" spc="-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transportadoras,</a:t>
            </a:r>
            <a:r>
              <a:rPr dirty="0" sz="1200" spc="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autoridades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jurídicas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A1A2D"/>
                </a:solidFill>
                <a:latin typeface="Calibri"/>
                <a:cs typeface="Calibri"/>
              </a:rPr>
              <a:t>e</a:t>
            </a:r>
            <a:r>
              <a:rPr dirty="0" sz="1200" spc="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fornecedores</a:t>
            </a:r>
            <a:r>
              <a:rPr dirty="0" sz="12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A1A2D"/>
                </a:solidFill>
                <a:latin typeface="Calibri"/>
                <a:cs typeface="Calibri"/>
              </a:rPr>
              <a:t>parceiros.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3350" y="1514411"/>
            <a:ext cx="8825230" cy="3434079"/>
            <a:chOff x="133350" y="1514411"/>
            <a:chExt cx="8825230" cy="3434079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350" y="1514411"/>
              <a:ext cx="8824976" cy="343382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80987" y="1986026"/>
              <a:ext cx="8591550" cy="2819400"/>
            </a:xfrm>
            <a:custGeom>
              <a:avLst/>
              <a:gdLst/>
              <a:ahLst/>
              <a:cxnLst/>
              <a:rect l="l" t="t" r="r" b="b"/>
              <a:pathLst>
                <a:path w="8591550" h="2819400">
                  <a:moveTo>
                    <a:pt x="0" y="2819336"/>
                  </a:moveTo>
                  <a:lnTo>
                    <a:pt x="8591550" y="2819336"/>
                  </a:lnTo>
                  <a:lnTo>
                    <a:pt x="8591550" y="0"/>
                  </a:lnTo>
                  <a:lnTo>
                    <a:pt x="0" y="0"/>
                  </a:lnTo>
                  <a:lnTo>
                    <a:pt x="0" y="281933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80987" y="1604962"/>
              <a:ext cx="8591550" cy="3200400"/>
            </a:xfrm>
            <a:custGeom>
              <a:avLst/>
              <a:gdLst/>
              <a:ahLst/>
              <a:cxnLst/>
              <a:rect l="l" t="t" r="r" b="b"/>
              <a:pathLst>
                <a:path w="8591550" h="3200400">
                  <a:moveTo>
                    <a:pt x="0" y="3200400"/>
                  </a:moveTo>
                  <a:lnTo>
                    <a:pt x="8591550" y="3200400"/>
                  </a:lnTo>
                  <a:lnTo>
                    <a:pt x="8591550" y="0"/>
                  </a:lnTo>
                  <a:lnTo>
                    <a:pt x="0" y="0"/>
                  </a:lnTo>
                  <a:lnTo>
                    <a:pt x="0" y="3200400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80987" y="1605026"/>
              <a:ext cx="8591550" cy="381000"/>
            </a:xfrm>
            <a:custGeom>
              <a:avLst/>
              <a:gdLst/>
              <a:ahLst/>
              <a:cxnLst/>
              <a:rect l="l" t="t" r="r" b="b"/>
              <a:pathLst>
                <a:path w="8591550" h="381000">
                  <a:moveTo>
                    <a:pt x="859155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8591550" y="381000"/>
                  </a:lnTo>
                  <a:lnTo>
                    <a:pt x="8591550" y="0"/>
                  </a:lnTo>
                  <a:close/>
                </a:path>
              </a:pathLst>
            </a:custGeom>
            <a:solidFill>
              <a:srgbClr val="0E34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80987" y="1605026"/>
              <a:ext cx="8591550" cy="381000"/>
            </a:xfrm>
            <a:custGeom>
              <a:avLst/>
              <a:gdLst/>
              <a:ahLst/>
              <a:cxnLst/>
              <a:rect l="l" t="t" r="r" b="b"/>
              <a:pathLst>
                <a:path w="8591550" h="381000">
                  <a:moveTo>
                    <a:pt x="0" y="381000"/>
                  </a:moveTo>
                  <a:lnTo>
                    <a:pt x="8591550" y="381000"/>
                  </a:lnTo>
                  <a:lnTo>
                    <a:pt x="859155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12700">
              <a:solidFill>
                <a:srgbClr val="0E34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445134" y="1674177"/>
            <a:ext cx="1978660" cy="2203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Direitos</a:t>
            </a:r>
            <a:r>
              <a:rPr dirty="0" sz="1250" spc="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dos</a:t>
            </a:r>
            <a:r>
              <a:rPr dirty="0" sz="1250" spc="114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b="1">
                <a:solidFill>
                  <a:srgbClr val="FFFFFF"/>
                </a:solidFill>
                <a:latin typeface="Calibri"/>
                <a:cs typeface="Calibri"/>
              </a:rPr>
              <a:t>Usuários</a:t>
            </a:r>
            <a:r>
              <a:rPr dirty="0" sz="1250" spc="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50" spc="-10" b="1">
                <a:solidFill>
                  <a:srgbClr val="FFFFFF"/>
                </a:solidFill>
                <a:latin typeface="Calibri"/>
                <a:cs typeface="Calibri"/>
              </a:rPr>
              <a:t>(LGPD)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82294" y="2779331"/>
            <a:ext cx="3468370" cy="119951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55600" indent="-342900">
              <a:lnSpc>
                <a:spcPts val="1300"/>
              </a:lnSpc>
              <a:spcBef>
                <a:spcPts val="125"/>
              </a:spcBef>
              <a:buChar char="•"/>
              <a:tabLst>
                <a:tab pos="355600" algn="l"/>
              </a:tabLst>
            </a:pP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Confirmar</a:t>
            </a:r>
            <a:r>
              <a:rPr dirty="0" sz="1100" spc="-2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se</a:t>
            </a:r>
            <a:r>
              <a:rPr dirty="0" sz="1100" spc="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seus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 dados</a:t>
            </a:r>
            <a:r>
              <a:rPr dirty="0" sz="1100" spc="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estão sendo</a:t>
            </a:r>
            <a:r>
              <a:rPr dirty="0" sz="1100" spc="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tratados</a:t>
            </a:r>
            <a:endParaRPr sz="1100">
              <a:latin typeface="Calibri"/>
              <a:cs typeface="Calibri"/>
            </a:endParaRPr>
          </a:p>
          <a:p>
            <a:pPr marL="355600" indent="-342900">
              <a:lnSpc>
                <a:spcPts val="1300"/>
              </a:lnSpc>
              <a:buChar char="•"/>
              <a:tabLst>
                <a:tab pos="355600" algn="l"/>
              </a:tabLst>
            </a:pP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Corrigir</a:t>
            </a:r>
            <a:r>
              <a:rPr dirty="0" sz="1100" spc="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dados</a:t>
            </a:r>
            <a:r>
              <a:rPr dirty="0" sz="11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errados</a:t>
            </a:r>
            <a:r>
              <a:rPr dirty="0" sz="11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ou</a:t>
            </a:r>
            <a:r>
              <a:rPr dirty="0" sz="11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desatualizados</a:t>
            </a:r>
            <a:endParaRPr sz="11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5"/>
              </a:spcBef>
              <a:buChar char="•"/>
              <a:tabLst>
                <a:tab pos="355600" algn="l"/>
              </a:tabLst>
            </a:pP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Solicitar</a:t>
            </a:r>
            <a:r>
              <a:rPr dirty="0" sz="1100" spc="-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anonimização,</a:t>
            </a:r>
            <a:r>
              <a:rPr dirty="0" sz="1100" spc="-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bloqueio</a:t>
            </a:r>
            <a:r>
              <a:rPr dirty="0" sz="11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ou</a:t>
            </a:r>
            <a:r>
              <a:rPr dirty="0" sz="11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eliminação</a:t>
            </a:r>
            <a:endParaRPr sz="1100">
              <a:latin typeface="Calibri"/>
              <a:cs typeface="Calibri"/>
            </a:endParaRPr>
          </a:p>
          <a:p>
            <a:pPr marL="355600" indent="-342900">
              <a:lnSpc>
                <a:spcPts val="1300"/>
              </a:lnSpc>
              <a:spcBef>
                <a:spcPts val="30"/>
              </a:spcBef>
              <a:buChar char="•"/>
              <a:tabLst>
                <a:tab pos="355600" algn="l"/>
              </a:tabLst>
            </a:pP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Portabilidade</a:t>
            </a:r>
            <a:r>
              <a:rPr dirty="0" sz="11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para</a:t>
            </a:r>
            <a:r>
              <a:rPr dirty="0" sz="1100" spc="-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outras</a:t>
            </a:r>
            <a:r>
              <a:rPr dirty="0" sz="11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empresas</a:t>
            </a:r>
            <a:r>
              <a:rPr dirty="0" sz="1100" spc="-4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(mediante</a:t>
            </a:r>
            <a:r>
              <a:rPr dirty="0" sz="11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pedido)</a:t>
            </a:r>
            <a:endParaRPr sz="1100">
              <a:latin typeface="Calibri"/>
              <a:cs typeface="Calibri"/>
            </a:endParaRPr>
          </a:p>
          <a:p>
            <a:pPr marL="355600" indent="-342900">
              <a:lnSpc>
                <a:spcPts val="1300"/>
              </a:lnSpc>
              <a:buChar char="•"/>
              <a:tabLst>
                <a:tab pos="355600" algn="l"/>
              </a:tabLst>
            </a:pP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Saber</a:t>
            </a:r>
            <a:r>
              <a:rPr dirty="0" sz="11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quais</a:t>
            </a:r>
            <a:r>
              <a:rPr dirty="0" sz="11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empresas</a:t>
            </a:r>
            <a:r>
              <a:rPr dirty="0" sz="11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têm</a:t>
            </a:r>
            <a:r>
              <a:rPr dirty="0" sz="11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acesso</a:t>
            </a:r>
            <a:r>
              <a:rPr dirty="0" sz="11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aos</a:t>
            </a:r>
            <a:r>
              <a:rPr dirty="0" sz="11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seus</a:t>
            </a:r>
            <a:r>
              <a:rPr dirty="0" sz="1100" spc="-1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12121"/>
                </a:solidFill>
                <a:latin typeface="Calibri"/>
                <a:cs typeface="Calibri"/>
              </a:rPr>
              <a:t>dados</a:t>
            </a:r>
            <a:endParaRPr sz="1100">
              <a:latin typeface="Calibri"/>
              <a:cs typeface="Calibri"/>
            </a:endParaRPr>
          </a:p>
          <a:p>
            <a:pPr marL="355600" indent="-342900">
              <a:lnSpc>
                <a:spcPts val="1300"/>
              </a:lnSpc>
              <a:spcBef>
                <a:spcPts val="35"/>
              </a:spcBef>
              <a:buChar char="•"/>
              <a:tabLst>
                <a:tab pos="355600" algn="l"/>
              </a:tabLst>
            </a:pP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Retirar</a:t>
            </a:r>
            <a:r>
              <a:rPr dirty="0" sz="1100" spc="-4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consentimento</a:t>
            </a:r>
            <a:r>
              <a:rPr dirty="0" sz="11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de</a:t>
            </a:r>
            <a:r>
              <a:rPr dirty="0" sz="1100" spc="-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algum</a:t>
            </a:r>
            <a:r>
              <a:rPr dirty="0" sz="1100" spc="-2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serviço</a:t>
            </a:r>
            <a:endParaRPr sz="1100">
              <a:latin typeface="Calibri"/>
              <a:cs typeface="Calibri"/>
            </a:endParaRPr>
          </a:p>
          <a:p>
            <a:pPr marL="355600" indent="-342900">
              <a:lnSpc>
                <a:spcPts val="1300"/>
              </a:lnSpc>
              <a:buChar char="•"/>
              <a:tabLst>
                <a:tab pos="355600" algn="l"/>
              </a:tabLst>
            </a:pP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Não</a:t>
            </a:r>
            <a:r>
              <a:rPr dirty="0" sz="1100" spc="-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permitir</a:t>
            </a:r>
            <a:r>
              <a:rPr dirty="0" sz="1100" spc="-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o</a:t>
            </a:r>
            <a:r>
              <a:rPr dirty="0" sz="1100" spc="-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tratamento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de</a:t>
            </a:r>
            <a:r>
              <a:rPr dirty="0" sz="1100" spc="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seus</a:t>
            </a:r>
            <a:r>
              <a:rPr dirty="0" sz="1100" spc="-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212121"/>
                </a:solidFill>
                <a:latin typeface="Calibri"/>
                <a:cs typeface="Calibri"/>
              </a:rPr>
              <a:t>dados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3325" y="0"/>
            <a:ext cx="13144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/>
              <a:t>03</a:t>
            </a:r>
            <a:r>
              <a:rPr dirty="0" sz="1550" spc="470"/>
              <a:t> </a:t>
            </a:r>
            <a:r>
              <a:rPr dirty="0" sz="1550"/>
              <a:t>VAZAMENTO</a:t>
            </a:r>
            <a:r>
              <a:rPr dirty="0" sz="1550" spc="65"/>
              <a:t> </a:t>
            </a:r>
            <a:r>
              <a:rPr dirty="0" sz="1550"/>
              <a:t>DE</a:t>
            </a:r>
            <a:r>
              <a:rPr dirty="0" sz="1550" spc="70"/>
              <a:t> </a:t>
            </a:r>
            <a:r>
              <a:rPr dirty="0" sz="1550"/>
              <a:t>DADOS</a:t>
            </a:r>
            <a:r>
              <a:rPr dirty="0" sz="1550" spc="95"/>
              <a:t> </a:t>
            </a:r>
            <a:r>
              <a:rPr dirty="0" sz="1550"/>
              <a:t>&amp;</a:t>
            </a:r>
            <a:r>
              <a:rPr dirty="0" sz="1550" spc="105"/>
              <a:t> </a:t>
            </a:r>
            <a:r>
              <a:rPr dirty="0" sz="1550"/>
              <a:t>PROBLEMAS</a:t>
            </a:r>
            <a:r>
              <a:rPr dirty="0" sz="1550" spc="95"/>
              <a:t> </a:t>
            </a:r>
            <a:r>
              <a:rPr dirty="0" sz="1550" spc="-10"/>
              <a:t>AMBIENTAIS</a:t>
            </a:r>
            <a:endParaRPr sz="1550"/>
          </a:p>
        </p:txBody>
      </p:sp>
      <p:grpSp>
        <p:nvGrpSpPr>
          <p:cNvPr id="3" name="object 3" descr=""/>
          <p:cNvGrpSpPr/>
          <p:nvPr/>
        </p:nvGrpSpPr>
        <p:grpSpPr>
          <a:xfrm>
            <a:off x="123825" y="723836"/>
            <a:ext cx="4177029" cy="4272280"/>
            <a:chOff x="123825" y="723836"/>
            <a:chExt cx="4177029" cy="427228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25" y="723836"/>
              <a:ext cx="4176776" cy="4272026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76225" y="819149"/>
              <a:ext cx="3933825" cy="5080"/>
            </a:xfrm>
            <a:custGeom>
              <a:avLst/>
              <a:gdLst/>
              <a:ahLst/>
              <a:cxnLst/>
              <a:rect l="l" t="t" r="r" b="b"/>
              <a:pathLst>
                <a:path w="3933825" h="5080">
                  <a:moveTo>
                    <a:pt x="0" y="4825"/>
                  </a:moveTo>
                  <a:lnTo>
                    <a:pt x="3933825" y="4825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162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76225" y="819149"/>
              <a:ext cx="3933825" cy="4029075"/>
            </a:xfrm>
            <a:custGeom>
              <a:avLst/>
              <a:gdLst/>
              <a:ahLst/>
              <a:cxnLst/>
              <a:rect l="l" t="t" r="r" b="b"/>
              <a:pathLst>
                <a:path w="3933825" h="4029075">
                  <a:moveTo>
                    <a:pt x="0" y="4029075"/>
                  </a:moveTo>
                  <a:lnTo>
                    <a:pt x="3933825" y="4029075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4029075"/>
                  </a:lnTo>
                  <a:close/>
                </a:path>
              </a:pathLst>
            </a:custGeom>
            <a:ln w="19050">
              <a:solidFill>
                <a:srgbClr val="CC444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80987" y="823975"/>
              <a:ext cx="3933825" cy="390525"/>
            </a:xfrm>
            <a:custGeom>
              <a:avLst/>
              <a:gdLst/>
              <a:ahLst/>
              <a:cxnLst/>
              <a:rect l="l" t="t" r="r" b="b"/>
              <a:pathLst>
                <a:path w="3933825" h="390525">
                  <a:moveTo>
                    <a:pt x="0" y="390525"/>
                  </a:moveTo>
                  <a:lnTo>
                    <a:pt x="3933825" y="390525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390525"/>
                  </a:lnTo>
                  <a:close/>
                </a:path>
              </a:pathLst>
            </a:custGeom>
            <a:ln w="12700">
              <a:solidFill>
                <a:srgbClr val="CC444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74637" y="809625"/>
            <a:ext cx="3946525" cy="411480"/>
          </a:xfrm>
          <a:prstGeom prst="rect">
            <a:avLst/>
          </a:prstGeom>
          <a:solidFill>
            <a:srgbClr val="CC4444"/>
          </a:solidFill>
        </p:spPr>
        <p:txBody>
          <a:bodyPr wrap="square" lIns="0" tIns="113030" rIns="0" bIns="0" rtlCol="0" vert="horz">
            <a:spAutoFit/>
          </a:bodyPr>
          <a:lstStyle/>
          <a:p>
            <a:pPr marL="182880">
              <a:lnSpc>
                <a:spcPct val="100000"/>
              </a:lnSpc>
              <a:spcBef>
                <a:spcPts val="890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Vazamento</a:t>
            </a:r>
            <a:r>
              <a:rPr dirty="0" sz="1100" spc="12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Dados</a:t>
            </a:r>
            <a:r>
              <a:rPr dirty="0" sz="1100" spc="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(Mar/2026)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76225" y="1214500"/>
            <a:ext cx="3933825" cy="3634104"/>
          </a:xfrm>
          <a:prstGeom prst="rect">
            <a:avLst/>
          </a:prstGeom>
          <a:solidFill>
            <a:srgbClr val="16203D"/>
          </a:solidFill>
        </p:spPr>
        <p:txBody>
          <a:bodyPr wrap="square" lIns="0" tIns="108585" rIns="0" bIns="0" rtlCol="0" vert="horz">
            <a:spAutoFit/>
          </a:bodyPr>
          <a:lstStyle/>
          <a:p>
            <a:pPr marL="227329" marR="337185">
              <a:lnSpc>
                <a:spcPct val="99600"/>
              </a:lnSpc>
              <a:spcBef>
                <a:spcPts val="85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Criminosos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obtiveram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dados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clientes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dirty="0" sz="110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crediários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na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Havan,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realizando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cobranças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fraudulentas se</a:t>
            </a:r>
            <a:r>
              <a:rPr dirty="0" sz="11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passando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pela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empresa.</a:t>
            </a:r>
            <a:endParaRPr sz="1100">
              <a:latin typeface="Calibri"/>
              <a:cs typeface="Calibri"/>
            </a:endParaRPr>
          </a:p>
          <a:p>
            <a:pPr marL="227329" marR="262890">
              <a:lnSpc>
                <a:spcPct val="99600"/>
              </a:lnSpc>
              <a:spcBef>
                <a:spcPts val="1310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Prejuízo: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~R$</a:t>
            </a:r>
            <a:r>
              <a:rPr dirty="0" sz="11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576</a:t>
            </a:r>
            <a:r>
              <a:rPr dirty="0" sz="1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mil</a:t>
            </a:r>
            <a:r>
              <a:rPr dirty="0" sz="11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arrecadados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pelos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golpistas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apenas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um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dia,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demonstrando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os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impactos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 falhas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segurança digital.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695825" y="723836"/>
            <a:ext cx="4177029" cy="4272280"/>
            <a:chOff x="4695825" y="723836"/>
            <a:chExt cx="4177029" cy="4272280"/>
          </a:xfrm>
        </p:grpSpPr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95825" y="723836"/>
              <a:ext cx="4176776" cy="4272026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4848225" y="819149"/>
              <a:ext cx="3933825" cy="5080"/>
            </a:xfrm>
            <a:custGeom>
              <a:avLst/>
              <a:gdLst/>
              <a:ahLst/>
              <a:cxnLst/>
              <a:rect l="l" t="t" r="r" b="b"/>
              <a:pathLst>
                <a:path w="3933825" h="5080">
                  <a:moveTo>
                    <a:pt x="0" y="4825"/>
                  </a:moveTo>
                  <a:lnTo>
                    <a:pt x="3933825" y="4825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162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848225" y="819149"/>
              <a:ext cx="3933825" cy="4029075"/>
            </a:xfrm>
            <a:custGeom>
              <a:avLst/>
              <a:gdLst/>
              <a:ahLst/>
              <a:cxnLst/>
              <a:rect l="l" t="t" r="r" b="b"/>
              <a:pathLst>
                <a:path w="3933825" h="4029075">
                  <a:moveTo>
                    <a:pt x="0" y="4029075"/>
                  </a:moveTo>
                  <a:lnTo>
                    <a:pt x="3933825" y="4029075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4029075"/>
                  </a:lnTo>
                  <a:close/>
                </a:path>
              </a:pathLst>
            </a:custGeom>
            <a:ln w="19050">
              <a:solidFill>
                <a:srgbClr val="4B9A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853051" y="823975"/>
              <a:ext cx="3933825" cy="390525"/>
            </a:xfrm>
            <a:custGeom>
              <a:avLst/>
              <a:gdLst/>
              <a:ahLst/>
              <a:cxnLst/>
              <a:rect l="l" t="t" r="r" b="b"/>
              <a:pathLst>
                <a:path w="3933825" h="390525">
                  <a:moveTo>
                    <a:pt x="3933825" y="0"/>
                  </a:moveTo>
                  <a:lnTo>
                    <a:pt x="0" y="0"/>
                  </a:lnTo>
                  <a:lnTo>
                    <a:pt x="0" y="390525"/>
                  </a:lnTo>
                  <a:lnTo>
                    <a:pt x="3933825" y="390525"/>
                  </a:lnTo>
                  <a:lnTo>
                    <a:pt x="3933825" y="0"/>
                  </a:lnTo>
                  <a:close/>
                </a:path>
              </a:pathLst>
            </a:custGeom>
            <a:solidFill>
              <a:srgbClr val="2C792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4853051" y="823975"/>
              <a:ext cx="3933825" cy="390525"/>
            </a:xfrm>
            <a:custGeom>
              <a:avLst/>
              <a:gdLst/>
              <a:ahLst/>
              <a:cxnLst/>
              <a:rect l="l" t="t" r="r" b="b"/>
              <a:pathLst>
                <a:path w="3933825" h="390525">
                  <a:moveTo>
                    <a:pt x="0" y="390525"/>
                  </a:moveTo>
                  <a:lnTo>
                    <a:pt x="3933825" y="390525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390525"/>
                  </a:lnTo>
                  <a:close/>
                </a:path>
              </a:pathLst>
            </a:custGeom>
            <a:ln w="12700">
              <a:solidFill>
                <a:srgbClr val="2C792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4858575" y="906716"/>
            <a:ext cx="3913504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7526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Problemas</a:t>
            </a:r>
            <a:r>
              <a:rPr dirty="0" sz="1100" spc="18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Ambientais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4848225" y="1214500"/>
            <a:ext cx="3933825" cy="3634104"/>
          </a:xfrm>
          <a:prstGeom prst="rect">
            <a:avLst/>
          </a:prstGeom>
          <a:solidFill>
            <a:srgbClr val="16203D"/>
          </a:solidFill>
        </p:spPr>
        <p:txBody>
          <a:bodyPr wrap="square" lIns="0" tIns="107314" rIns="0" bIns="0" rtlCol="0" vert="horz">
            <a:spAutoFit/>
          </a:bodyPr>
          <a:lstStyle/>
          <a:p>
            <a:pPr marL="336550" indent="-104775">
              <a:lnSpc>
                <a:spcPct val="100000"/>
              </a:lnSpc>
              <a:spcBef>
                <a:spcPts val="844"/>
              </a:spcBef>
              <a:buChar char="•"/>
              <a:tabLst>
                <a:tab pos="336550" algn="l"/>
              </a:tabLst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Construções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Áreas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 Preservação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Permanente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(APP)</a:t>
            </a:r>
            <a:endParaRPr sz="1100">
              <a:latin typeface="Calibri"/>
              <a:cs typeface="Calibri"/>
            </a:endParaRPr>
          </a:p>
          <a:p>
            <a:pPr marL="336550" indent="-104775">
              <a:lnSpc>
                <a:spcPct val="100000"/>
              </a:lnSpc>
              <a:spcBef>
                <a:spcPts val="1315"/>
              </a:spcBef>
              <a:buChar char="•"/>
              <a:tabLst>
                <a:tab pos="336550" algn="l"/>
              </a:tabLst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Estátua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Maranhão</a:t>
            </a:r>
            <a:r>
              <a:rPr dirty="0" sz="11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sem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licença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ambiental</a:t>
            </a:r>
            <a:endParaRPr sz="1100">
              <a:latin typeface="Calibri"/>
              <a:cs typeface="Calibri"/>
            </a:endParaRPr>
          </a:p>
          <a:p>
            <a:pPr marL="335915" indent="-104139">
              <a:lnSpc>
                <a:spcPct val="100000"/>
              </a:lnSpc>
              <a:spcBef>
                <a:spcPts val="1305"/>
              </a:spcBef>
              <a:buChar char="•"/>
              <a:tabLst>
                <a:tab pos="335915" algn="l"/>
              </a:tabLst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Construção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sobre</a:t>
            </a:r>
            <a:r>
              <a:rPr dirty="0" sz="1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sítio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arqueológico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no RS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(obras</a:t>
            </a:r>
            <a:endParaRPr sz="1100">
              <a:latin typeface="Calibri"/>
              <a:cs typeface="Calibri"/>
            </a:endParaRPr>
          </a:p>
          <a:p>
            <a:pPr marL="231775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paralisadas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pelo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IPHAN)</a:t>
            </a:r>
            <a:endParaRPr sz="1100">
              <a:latin typeface="Calibri"/>
              <a:cs typeface="Calibri"/>
            </a:endParaRPr>
          </a:p>
          <a:p>
            <a:pPr marL="335915" indent="-104139">
              <a:lnSpc>
                <a:spcPct val="100000"/>
              </a:lnSpc>
              <a:spcBef>
                <a:spcPts val="1310"/>
              </a:spcBef>
              <a:buChar char="•"/>
              <a:tabLst>
                <a:tab pos="335915" algn="l"/>
              </a:tabLst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Críticas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públicas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Luciano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Hang</a:t>
            </a:r>
            <a:r>
              <a:rPr dirty="0" sz="11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às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práticas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ambientais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9550" y="0"/>
            <a:ext cx="131445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/>
              <a:t>04</a:t>
            </a:r>
            <a:r>
              <a:rPr dirty="0" sz="1550" spc="420"/>
              <a:t> </a:t>
            </a:r>
            <a:r>
              <a:rPr dirty="0" sz="1550"/>
              <a:t>ANÁLISE</a:t>
            </a:r>
            <a:r>
              <a:rPr dirty="0" sz="1550" spc="45"/>
              <a:t> </a:t>
            </a:r>
            <a:r>
              <a:rPr dirty="0" sz="1550"/>
              <a:t>PREDITIVA</a:t>
            </a:r>
            <a:r>
              <a:rPr dirty="0" sz="1550" spc="80"/>
              <a:t> </a:t>
            </a:r>
            <a:r>
              <a:rPr dirty="0" sz="1550"/>
              <a:t>&amp;</a:t>
            </a:r>
            <a:r>
              <a:rPr dirty="0" sz="1550" spc="75"/>
              <a:t> </a:t>
            </a:r>
            <a:r>
              <a:rPr dirty="0" sz="1550" spc="-10"/>
              <a:t>ESTATÍSTICA</a:t>
            </a:r>
            <a:r>
              <a:rPr dirty="0" sz="1550" spc="80"/>
              <a:t> </a:t>
            </a:r>
            <a:r>
              <a:rPr dirty="0" sz="1550" spc="-10"/>
              <a:t>FINANCEIRA</a:t>
            </a:r>
            <a:endParaRPr sz="1550"/>
          </a:p>
        </p:txBody>
      </p:sp>
      <p:sp>
        <p:nvSpPr>
          <p:cNvPr id="3" name="object 3" descr=""/>
          <p:cNvSpPr txBox="1"/>
          <p:nvPr/>
        </p:nvSpPr>
        <p:spPr>
          <a:xfrm>
            <a:off x="445134" y="874712"/>
            <a:ext cx="5982335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Dados</a:t>
            </a:r>
            <a:r>
              <a:rPr dirty="0" sz="1100" spc="1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analisados:</a:t>
            </a:r>
            <a:r>
              <a:rPr dirty="0" sz="1100" spc="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Receita</a:t>
            </a:r>
            <a:r>
              <a:rPr dirty="0" sz="1100" spc="1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Bruta,</a:t>
            </a:r>
            <a:r>
              <a:rPr dirty="0" sz="1100" spc="16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ROL,</a:t>
            </a:r>
            <a:r>
              <a:rPr dirty="0" sz="1100" spc="7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Lucro</a:t>
            </a:r>
            <a:r>
              <a:rPr dirty="0" sz="1100" spc="1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Bruto</a:t>
            </a:r>
            <a:r>
              <a:rPr dirty="0" sz="1100" spc="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</a:t>
            </a:r>
            <a:r>
              <a:rPr dirty="0" sz="1100" spc="19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EBIT</a:t>
            </a:r>
            <a:r>
              <a:rPr dirty="0" sz="1100" spc="2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—</a:t>
            </a:r>
            <a:r>
              <a:rPr dirty="0" sz="1100" spc="1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comparando</a:t>
            </a:r>
            <a:r>
              <a:rPr dirty="0" sz="1100" spc="1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trimestres</a:t>
            </a:r>
            <a:r>
              <a:rPr dirty="0" sz="1100" spc="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9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2023</a:t>
            </a:r>
            <a:r>
              <a:rPr dirty="0" sz="1100" spc="8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</a:t>
            </a:r>
            <a:r>
              <a:rPr dirty="0" sz="1100" spc="9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2024.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271145" y="1258697"/>
          <a:ext cx="8677910" cy="34728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1680"/>
                <a:gridCol w="1645920"/>
                <a:gridCol w="1645920"/>
                <a:gridCol w="1645920"/>
                <a:gridCol w="1645920"/>
              </a:tblGrid>
              <a:tr h="578485"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Indicador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1A1A2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Crescimento</a:t>
                      </a:r>
                      <a:r>
                        <a:rPr dirty="0" sz="11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Q1→Q2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1A1A2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Crescimento</a:t>
                      </a:r>
                      <a:r>
                        <a:rPr dirty="0" sz="1100" spc="-3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Q2→Q3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1A1A2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Crescimento</a:t>
                      </a:r>
                      <a:r>
                        <a:rPr dirty="0" sz="1100" spc="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Q3→Q4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1A1A2D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Crescim.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Anual</a:t>
                      </a:r>
                      <a:r>
                        <a:rPr dirty="0" sz="1100" spc="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(vs</a:t>
                      </a:r>
                      <a:r>
                        <a:rPr dirty="0" sz="1100" spc="-1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2024)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191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  <a:solidFill>
                      <a:srgbClr val="1A1A2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Lucro</a:t>
                      </a:r>
                      <a:r>
                        <a:rPr dirty="0" sz="1100" spc="-3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Bruto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+2,3%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+5,0%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+40,83%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78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+27,64%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318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algn="ctr" marL="50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100" spc="-20">
                          <a:latin typeface="Calibri"/>
                          <a:cs typeface="Calibri"/>
                        </a:rPr>
                        <a:t>EBIT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+245%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+62,13%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+93,9%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78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+58,68%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445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100">
                          <a:latin typeface="Calibri"/>
                          <a:cs typeface="Calibri"/>
                        </a:rPr>
                        <a:t>Receita</a:t>
                      </a:r>
                      <a:r>
                        <a:rPr dirty="0" sz="1100" spc="-50"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>
                          <a:latin typeface="Calibri"/>
                          <a:cs typeface="Calibri"/>
                        </a:rPr>
                        <a:t>Bruta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+14,03%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100" spc="-20">
                          <a:latin typeface="Calibri"/>
                          <a:cs typeface="Calibri"/>
                        </a:rPr>
                        <a:t>8,6%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+38,78%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7780">
                        <a:lnSpc>
                          <a:spcPct val="100000"/>
                        </a:lnSpc>
                        <a:spcBef>
                          <a:spcPts val="35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+22,91%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5085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578485"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100" spc="-25">
                          <a:latin typeface="Calibri"/>
                          <a:cs typeface="Calibri"/>
                        </a:rPr>
                        <a:t>ROL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+13,02%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-9,27%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100" spc="-10">
                          <a:latin typeface="Calibri"/>
                          <a:cs typeface="Calibri"/>
                        </a:rPr>
                        <a:t>+27,11%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050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dirty="0" sz="1100" spc="-50">
                          <a:latin typeface="Calibri"/>
                          <a:cs typeface="Calibri"/>
                        </a:rPr>
                        <a:t>—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6355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579120">
                <a:tc gridSpan="5"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dirty="0" sz="1100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Margem</a:t>
                      </a:r>
                      <a:r>
                        <a:rPr dirty="0" sz="1100" spc="-50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Bruta</a:t>
                      </a:r>
                      <a:r>
                        <a:rPr dirty="0" sz="1100" spc="15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10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Total:</a:t>
                      </a:r>
                      <a:r>
                        <a:rPr dirty="0" sz="1100" spc="-35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40,14%</a:t>
                      </a:r>
                      <a:r>
                        <a:rPr dirty="0" sz="1100" spc="200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|</a:t>
                      </a:r>
                      <a:r>
                        <a:rPr dirty="0" sz="1100" spc="265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Margem</a:t>
                      </a:r>
                      <a:r>
                        <a:rPr dirty="0" sz="1100" spc="-50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EBIT:</a:t>
                      </a:r>
                      <a:r>
                        <a:rPr dirty="0" sz="1100" spc="35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100" spc="-20" b="1">
                          <a:solidFill>
                            <a:srgbClr val="CC1F1F"/>
                          </a:solidFill>
                          <a:latin typeface="Calibri"/>
                          <a:cs typeface="Calibri"/>
                        </a:rPr>
                        <a:t>31,5%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 marT="46990">
                    <a:lnL w="6350">
                      <a:solidFill>
                        <a:srgbClr val="CCCCCC"/>
                      </a:solidFill>
                      <a:prstDash val="solid"/>
                    </a:lnL>
                    <a:lnR w="6350">
                      <a:solidFill>
                        <a:srgbClr val="CCCCCC"/>
                      </a:solidFill>
                      <a:prstDash val="solid"/>
                    </a:lnR>
                    <a:lnT w="6350">
                      <a:solidFill>
                        <a:srgbClr val="CCCCCC"/>
                      </a:solidFill>
                      <a:prstDash val="solid"/>
                    </a:lnT>
                    <a:lnB w="6350">
                      <a:solidFill>
                        <a:srgbClr val="CCCCCC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48575" y="0"/>
            <a:ext cx="131445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5D2952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361950" y="361950"/>
            <a:ext cx="8420100" cy="4419600"/>
            <a:chOff x="361950" y="361950"/>
            <a:chExt cx="8420100" cy="4419600"/>
          </a:xfrm>
        </p:grpSpPr>
        <p:sp>
          <p:nvSpPr>
            <p:cNvPr id="4" name="object 4" descr=""/>
            <p:cNvSpPr/>
            <p:nvPr/>
          </p:nvSpPr>
          <p:spPr>
            <a:xfrm>
              <a:off x="361950" y="361950"/>
              <a:ext cx="8420100" cy="4419600"/>
            </a:xfrm>
            <a:custGeom>
              <a:avLst/>
              <a:gdLst/>
              <a:ahLst/>
              <a:cxnLst/>
              <a:rect l="l" t="t" r="r" b="b"/>
              <a:pathLst>
                <a:path w="8420100" h="4419600">
                  <a:moveTo>
                    <a:pt x="8420100" y="0"/>
                  </a:moveTo>
                  <a:lnTo>
                    <a:pt x="0" y="0"/>
                  </a:lnTo>
                  <a:lnTo>
                    <a:pt x="0" y="4419600"/>
                  </a:lnTo>
                  <a:lnTo>
                    <a:pt x="8420100" y="4419600"/>
                  </a:lnTo>
                  <a:lnTo>
                    <a:pt x="84201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500" y="485775"/>
              <a:ext cx="7239000" cy="417195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1A1A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1586" y="-1523"/>
            <a:ext cx="9152255" cy="698500"/>
            <a:chOff x="-1586" y="-1523"/>
            <a:chExt cx="9152255" cy="698500"/>
          </a:xfrm>
        </p:grpSpPr>
        <p:sp>
          <p:nvSpPr>
            <p:cNvPr id="4" name="object 4" descr=""/>
            <p:cNvSpPr/>
            <p:nvPr/>
          </p:nvSpPr>
          <p:spPr>
            <a:xfrm>
              <a:off x="4763" y="4826"/>
              <a:ext cx="9139555" cy="685800"/>
            </a:xfrm>
            <a:custGeom>
              <a:avLst/>
              <a:gdLst/>
              <a:ahLst/>
              <a:cxnLst/>
              <a:rect l="l" t="t" r="r" b="b"/>
              <a:pathLst>
                <a:path w="9139555" h="685800">
                  <a:moveTo>
                    <a:pt x="9139236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39236" y="6858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CC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63" y="4826"/>
              <a:ext cx="9139555" cy="685800"/>
            </a:xfrm>
            <a:custGeom>
              <a:avLst/>
              <a:gdLst/>
              <a:ahLst/>
              <a:cxnLst/>
              <a:rect l="l" t="t" r="r" b="b"/>
              <a:pathLst>
                <a:path w="9139555" h="685800">
                  <a:moveTo>
                    <a:pt x="9139236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39236" y="685800"/>
                  </a:lnTo>
                </a:path>
              </a:pathLst>
            </a:custGeom>
            <a:ln w="12700">
              <a:solidFill>
                <a:srgbClr val="CC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/>
              <a:t>05</a:t>
            </a:r>
            <a:r>
              <a:rPr dirty="0" sz="1800" spc="415"/>
              <a:t> </a:t>
            </a:r>
            <a:r>
              <a:rPr dirty="0" sz="1800" spc="-10"/>
              <a:t>INFRAESTRUTURA</a:t>
            </a:r>
            <a:r>
              <a:rPr dirty="0" sz="1800"/>
              <a:t> </a:t>
            </a:r>
            <a:r>
              <a:rPr dirty="0" sz="1800" spc="-10"/>
              <a:t>COMPUTACIONAL</a:t>
            </a:r>
            <a:endParaRPr sz="1800"/>
          </a:p>
        </p:txBody>
      </p:sp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25" y="733298"/>
            <a:ext cx="3071876" cy="2062226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233362" y="823975"/>
            <a:ext cx="2838450" cy="371475"/>
          </a:xfrm>
          <a:prstGeom prst="rect">
            <a:avLst/>
          </a:prstGeom>
          <a:solidFill>
            <a:srgbClr val="0E345F"/>
          </a:solidFill>
          <a:ln w="12700">
            <a:solidFill>
              <a:srgbClr val="0E345F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7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Servidores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233362" y="1195450"/>
            <a:ext cx="2838450" cy="1457325"/>
          </a:xfrm>
          <a:prstGeom prst="rect">
            <a:avLst/>
          </a:prstGeom>
          <a:solidFill>
            <a:srgbClr val="16203D"/>
          </a:solidFill>
          <a:ln w="12700">
            <a:solidFill>
              <a:srgbClr val="0E345F"/>
            </a:solidFill>
          </a:ln>
        </p:spPr>
        <p:txBody>
          <a:bodyPr wrap="square" lIns="0" tIns="75565" rIns="0" bIns="0" rtlCol="0" vert="horz">
            <a:spAutoFit/>
          </a:bodyPr>
          <a:lstStyle/>
          <a:p>
            <a:pPr marL="177800" marR="361315">
              <a:lnSpc>
                <a:spcPct val="101400"/>
              </a:lnSpc>
              <a:spcBef>
                <a:spcPts val="59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Intel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Xeon</a:t>
            </a:r>
            <a:r>
              <a:rPr dirty="0" sz="10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W5-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2465X:</a:t>
            </a:r>
            <a:r>
              <a:rPr dirty="0"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16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núcleos,</a:t>
            </a:r>
            <a:r>
              <a:rPr dirty="0" sz="10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3,5GHz,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33,75MB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cache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—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suporte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longas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operações</a:t>
            </a:r>
            <a:r>
              <a:rPr dirty="0" sz="10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contínuas.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7525" y="733298"/>
            <a:ext cx="3071876" cy="2062226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3205226" y="823975"/>
            <a:ext cx="2838450" cy="371475"/>
          </a:xfrm>
          <a:prstGeom prst="rect">
            <a:avLst/>
          </a:prstGeom>
          <a:solidFill>
            <a:srgbClr val="0E345F"/>
          </a:solidFill>
          <a:ln w="12700">
            <a:solidFill>
              <a:srgbClr val="0E345F"/>
            </a:solidFill>
          </a:ln>
        </p:spPr>
        <p:txBody>
          <a:bodyPr wrap="square" lIns="0" tIns="89535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705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Redes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3205226" y="1195450"/>
            <a:ext cx="2838450" cy="1457325"/>
          </a:xfrm>
          <a:prstGeom prst="rect">
            <a:avLst/>
          </a:prstGeom>
          <a:solidFill>
            <a:srgbClr val="16203D"/>
          </a:solidFill>
          <a:ln w="12700">
            <a:solidFill>
              <a:srgbClr val="0E345F"/>
            </a:solidFill>
          </a:ln>
        </p:spPr>
        <p:txBody>
          <a:bodyPr wrap="square" lIns="0" tIns="75565" rIns="0" bIns="0" rtlCol="0" vert="horz">
            <a:spAutoFit/>
          </a:bodyPr>
          <a:lstStyle/>
          <a:p>
            <a:pPr marL="181610" marR="396240">
              <a:lnSpc>
                <a:spcPct val="101400"/>
              </a:lnSpc>
              <a:spcBef>
                <a:spcPts val="59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Rede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corporativa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dirty="0" sz="10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DMZ,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firewalls,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switches,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roteadores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0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segmentação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para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segurança</a:t>
            </a:r>
            <a:r>
              <a:rPr dirty="0" sz="10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perimetral.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029325" y="733298"/>
            <a:ext cx="3072130" cy="2062480"/>
            <a:chOff x="6029325" y="733298"/>
            <a:chExt cx="3072130" cy="2062480"/>
          </a:xfrm>
        </p:grpSpPr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29325" y="733298"/>
              <a:ext cx="3071876" cy="2062226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6177026" y="823976"/>
              <a:ext cx="2838450" cy="1828800"/>
            </a:xfrm>
            <a:custGeom>
              <a:avLst/>
              <a:gdLst/>
              <a:ahLst/>
              <a:cxnLst/>
              <a:rect l="l" t="t" r="r" b="b"/>
              <a:pathLst>
                <a:path w="2838450" h="1828800">
                  <a:moveTo>
                    <a:pt x="0" y="1828800"/>
                  </a:moveTo>
                  <a:lnTo>
                    <a:pt x="2838450" y="1828800"/>
                  </a:lnTo>
                  <a:lnTo>
                    <a:pt x="2838450" y="0"/>
                  </a:lnTo>
                  <a:lnTo>
                    <a:pt x="0" y="0"/>
                  </a:lnTo>
                  <a:lnTo>
                    <a:pt x="0" y="1828800"/>
                  </a:lnTo>
                  <a:close/>
                </a:path>
              </a:pathLst>
            </a:custGeom>
            <a:ln w="12700">
              <a:solidFill>
                <a:srgbClr val="0E34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177026" y="823976"/>
              <a:ext cx="2838450" cy="371475"/>
            </a:xfrm>
            <a:custGeom>
              <a:avLst/>
              <a:gdLst/>
              <a:ahLst/>
              <a:cxnLst/>
              <a:rect l="l" t="t" r="r" b="b"/>
              <a:pathLst>
                <a:path w="2838450" h="371475">
                  <a:moveTo>
                    <a:pt x="2838450" y="0"/>
                  </a:moveTo>
                  <a:lnTo>
                    <a:pt x="0" y="0"/>
                  </a:lnTo>
                  <a:lnTo>
                    <a:pt x="0" y="371475"/>
                  </a:lnTo>
                  <a:lnTo>
                    <a:pt x="2838450" y="371475"/>
                  </a:lnTo>
                  <a:lnTo>
                    <a:pt x="2838450" y="0"/>
                  </a:lnTo>
                  <a:close/>
                </a:path>
              </a:pathLst>
            </a:custGeom>
            <a:solidFill>
              <a:srgbClr val="0E345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6177026" y="823976"/>
              <a:ext cx="2838450" cy="371475"/>
            </a:xfrm>
            <a:custGeom>
              <a:avLst/>
              <a:gdLst/>
              <a:ahLst/>
              <a:cxnLst/>
              <a:rect l="l" t="t" r="r" b="b"/>
              <a:pathLst>
                <a:path w="2838450" h="371475">
                  <a:moveTo>
                    <a:pt x="0" y="371475"/>
                  </a:moveTo>
                  <a:lnTo>
                    <a:pt x="2838450" y="371475"/>
                  </a:lnTo>
                  <a:lnTo>
                    <a:pt x="2838450" y="0"/>
                  </a:lnTo>
                  <a:lnTo>
                    <a:pt x="0" y="0"/>
                  </a:lnTo>
                  <a:lnTo>
                    <a:pt x="0" y="371475"/>
                  </a:lnTo>
                  <a:close/>
                </a:path>
              </a:pathLst>
            </a:custGeom>
            <a:ln w="12700">
              <a:solidFill>
                <a:srgbClr val="0E34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183376" y="897572"/>
            <a:ext cx="2825750" cy="1974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125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SUSE</a:t>
            </a:r>
            <a:r>
              <a:rPr dirty="0" sz="1100" spc="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100" spc="1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6177026" y="1195450"/>
            <a:ext cx="2838450" cy="1457325"/>
          </a:xfrm>
          <a:prstGeom prst="rect">
            <a:avLst/>
          </a:prstGeom>
          <a:solidFill>
            <a:srgbClr val="16203D"/>
          </a:solidFill>
          <a:ln w="12700">
            <a:solidFill>
              <a:srgbClr val="0E345F"/>
            </a:solidFill>
          </a:ln>
        </p:spPr>
        <p:txBody>
          <a:bodyPr wrap="square" lIns="0" tIns="75565" rIns="0" bIns="0" rtlCol="0" vert="horz">
            <a:spAutoFit/>
          </a:bodyPr>
          <a:lstStyle/>
          <a:p>
            <a:pPr marL="184150" marR="609600">
              <a:lnSpc>
                <a:spcPct val="101400"/>
              </a:lnSpc>
              <a:spcBef>
                <a:spcPts val="595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SUSE Rancher</a:t>
            </a:r>
            <a:r>
              <a:rPr dirty="0"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para</a:t>
            </a:r>
            <a:r>
              <a:rPr dirty="0" sz="10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gerenciamento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de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containers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0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clusters</a:t>
            </a:r>
            <a:r>
              <a:rPr dirty="0" sz="105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Kubernetes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em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ambiente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distribuído.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25" y="2752661"/>
            <a:ext cx="3071876" cy="2062226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233362" y="2843244"/>
            <a:ext cx="2838450" cy="362585"/>
          </a:xfrm>
          <a:prstGeom prst="rect">
            <a:avLst/>
          </a:prstGeom>
          <a:solidFill>
            <a:srgbClr val="0E345F"/>
          </a:solidFill>
          <a:ln w="12700">
            <a:solidFill>
              <a:srgbClr val="0E345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160020">
              <a:lnSpc>
                <a:spcPct val="100000"/>
              </a:lnSpc>
              <a:spcBef>
                <a:spcPts val="675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Microsoft</a:t>
            </a:r>
            <a:r>
              <a:rPr dirty="0" sz="1100" spc="14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FFFFFF"/>
                </a:solidFill>
                <a:latin typeface="Calibri"/>
                <a:cs typeface="Calibri"/>
              </a:rPr>
              <a:t>Azure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233362" y="3205226"/>
            <a:ext cx="2838450" cy="1466850"/>
          </a:xfrm>
          <a:prstGeom prst="rect">
            <a:avLst/>
          </a:prstGeom>
          <a:solidFill>
            <a:srgbClr val="16203D"/>
          </a:solidFill>
          <a:ln w="12700">
            <a:solidFill>
              <a:srgbClr val="0E345F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177800" marR="355600">
              <a:lnSpc>
                <a:spcPct val="101400"/>
              </a:lnSpc>
              <a:spcBef>
                <a:spcPts val="640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Nuvem</a:t>
            </a:r>
            <a:r>
              <a:rPr dirty="0" sz="105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híbrida</a:t>
            </a:r>
            <a:r>
              <a:rPr dirty="0" sz="10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dirty="0"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backup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automatizado, monitoramento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dirty="0" sz="105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tempo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real</a:t>
            </a:r>
            <a:r>
              <a:rPr dirty="0"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recuperação</a:t>
            </a:r>
            <a:r>
              <a:rPr dirty="0" sz="10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5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desastres.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57525" y="2752661"/>
            <a:ext cx="3071876" cy="2062226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3205226" y="2843244"/>
            <a:ext cx="2838450" cy="362585"/>
          </a:xfrm>
          <a:prstGeom prst="rect">
            <a:avLst/>
          </a:prstGeom>
          <a:solidFill>
            <a:srgbClr val="0E345F"/>
          </a:solidFill>
          <a:ln w="12700">
            <a:solidFill>
              <a:srgbClr val="0E345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675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PDV</a:t>
            </a:r>
            <a:r>
              <a:rPr dirty="0" sz="1100" spc="5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(Software)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3205226" y="3205226"/>
            <a:ext cx="2838450" cy="1466850"/>
          </a:xfrm>
          <a:prstGeom prst="rect">
            <a:avLst/>
          </a:prstGeom>
          <a:solidFill>
            <a:srgbClr val="16203D"/>
          </a:solidFill>
          <a:ln w="12700">
            <a:solidFill>
              <a:srgbClr val="0E345F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181610" marR="227329">
              <a:lnSpc>
                <a:spcPct val="101400"/>
              </a:lnSpc>
              <a:spcBef>
                <a:spcPts val="640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Baixa</a:t>
            </a:r>
            <a:r>
              <a:rPr dirty="0" sz="1050" spc="-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5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estoque,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cálculo</a:t>
            </a:r>
            <a:r>
              <a:rPr dirty="0" sz="10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impostos,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FFFFFF"/>
                </a:solidFill>
                <a:latin typeface="Calibri"/>
                <a:cs typeface="Calibri"/>
              </a:rPr>
              <a:t>envio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ao</a:t>
            </a:r>
            <a:r>
              <a:rPr dirty="0" sz="105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SEFAZ,</a:t>
            </a:r>
            <a:r>
              <a:rPr dirty="0" sz="105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integração</a:t>
            </a:r>
            <a:r>
              <a:rPr dirty="0" sz="1050" spc="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dirty="0" sz="10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ERP</a:t>
            </a:r>
            <a:r>
              <a:rPr dirty="0" sz="10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 autorizadoras.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9325" y="2752661"/>
            <a:ext cx="3071876" cy="2062226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6177026" y="2843244"/>
            <a:ext cx="2838450" cy="362585"/>
          </a:xfrm>
          <a:prstGeom prst="rect">
            <a:avLst/>
          </a:prstGeom>
          <a:solidFill>
            <a:srgbClr val="0E345F"/>
          </a:solidFill>
          <a:ln w="12700">
            <a:solidFill>
              <a:srgbClr val="0E345F"/>
            </a:solidFill>
          </a:ln>
        </p:spPr>
        <p:txBody>
          <a:bodyPr wrap="square" lIns="0" tIns="85725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675"/>
              </a:spcBef>
            </a:pPr>
            <a:r>
              <a:rPr dirty="0" sz="1100" b="1">
                <a:solidFill>
                  <a:srgbClr val="FFFFFF"/>
                </a:solidFill>
                <a:latin typeface="Calibri"/>
                <a:cs typeface="Calibri"/>
              </a:rPr>
              <a:t>PDV</a:t>
            </a:r>
            <a:r>
              <a:rPr dirty="0" sz="1100" spc="4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(Hardware)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177026" y="3205226"/>
            <a:ext cx="2838450" cy="1466850"/>
          </a:xfrm>
          <a:prstGeom prst="rect">
            <a:avLst/>
          </a:prstGeom>
          <a:solidFill>
            <a:srgbClr val="16203D"/>
          </a:solidFill>
          <a:ln w="12700">
            <a:solidFill>
              <a:srgbClr val="0E345F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184150" marR="261620">
              <a:lnSpc>
                <a:spcPct val="101400"/>
              </a:lnSpc>
              <a:spcBef>
                <a:spcPts val="640"/>
              </a:spcBef>
            </a:pP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2GB</a:t>
            </a:r>
            <a:r>
              <a:rPr dirty="0" sz="105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RAM,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500GB</a:t>
            </a:r>
            <a:r>
              <a:rPr dirty="0" sz="10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armazenamento,</a:t>
            </a:r>
            <a:r>
              <a:rPr dirty="0" sz="105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scanner,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monitor,</a:t>
            </a:r>
            <a:r>
              <a:rPr dirty="0" sz="105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SAT</a:t>
            </a:r>
            <a:r>
              <a:rPr dirty="0" sz="10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fiscal</a:t>
            </a:r>
            <a:r>
              <a:rPr dirty="0" sz="105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impressora</a:t>
            </a:r>
            <a:r>
              <a:rPr dirty="0" sz="105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FFFFFF"/>
                </a:solidFill>
                <a:latin typeface="Calibri"/>
                <a:cs typeface="Calibri"/>
              </a:rPr>
              <a:t>cupons.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620000" y="0"/>
            <a:ext cx="1314450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/>
              <a:t>06</a:t>
            </a:r>
            <a:r>
              <a:rPr dirty="0" sz="1800" spc="335"/>
              <a:t> </a:t>
            </a:r>
            <a:r>
              <a:rPr dirty="0" sz="1800" spc="-10"/>
              <a:t>AUTOMAÇÃO</a:t>
            </a:r>
            <a:r>
              <a:rPr dirty="0" sz="1800" spc="-85"/>
              <a:t> </a:t>
            </a:r>
            <a:r>
              <a:rPr dirty="0" sz="1800"/>
              <a:t>FINANCEIRA</a:t>
            </a:r>
            <a:r>
              <a:rPr dirty="0" sz="1800" spc="-40"/>
              <a:t> </a:t>
            </a:r>
            <a:r>
              <a:rPr dirty="0" sz="1800"/>
              <a:t>COM</a:t>
            </a:r>
            <a:r>
              <a:rPr dirty="0" sz="1800" spc="-5"/>
              <a:t> </a:t>
            </a:r>
            <a:r>
              <a:rPr dirty="0" sz="1800" spc="-10"/>
              <a:t>PYTHON</a:t>
            </a:r>
            <a:endParaRPr sz="1800"/>
          </a:p>
        </p:txBody>
      </p:sp>
      <p:grpSp>
        <p:nvGrpSpPr>
          <p:cNvPr id="3" name="object 3" descr=""/>
          <p:cNvGrpSpPr/>
          <p:nvPr/>
        </p:nvGrpSpPr>
        <p:grpSpPr>
          <a:xfrm>
            <a:off x="133350" y="733361"/>
            <a:ext cx="4167504" cy="4262755"/>
            <a:chOff x="133350" y="733361"/>
            <a:chExt cx="4167504" cy="426275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3350" y="733361"/>
              <a:ext cx="4167251" cy="426250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80987" y="1214500"/>
              <a:ext cx="3933825" cy="3638550"/>
            </a:xfrm>
            <a:custGeom>
              <a:avLst/>
              <a:gdLst/>
              <a:ahLst/>
              <a:cxnLst/>
              <a:rect l="l" t="t" r="r" b="b"/>
              <a:pathLst>
                <a:path w="3933825" h="3638550">
                  <a:moveTo>
                    <a:pt x="0" y="3638486"/>
                  </a:moveTo>
                  <a:lnTo>
                    <a:pt x="3933825" y="3638486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36384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80987" y="823912"/>
              <a:ext cx="3933825" cy="4029075"/>
            </a:xfrm>
            <a:custGeom>
              <a:avLst/>
              <a:gdLst/>
              <a:ahLst/>
              <a:cxnLst/>
              <a:rect l="l" t="t" r="r" b="b"/>
              <a:pathLst>
                <a:path w="3933825" h="4029075">
                  <a:moveTo>
                    <a:pt x="0" y="4029075"/>
                  </a:moveTo>
                  <a:lnTo>
                    <a:pt x="3933825" y="4029075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4029075"/>
                  </a:lnTo>
                  <a:close/>
                </a:path>
              </a:pathLst>
            </a:custGeom>
            <a:ln w="12700">
              <a:solidFill>
                <a:srgbClr val="DDDDD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280987" y="823944"/>
            <a:ext cx="3933825" cy="391160"/>
          </a:xfrm>
          <a:prstGeom prst="rect">
            <a:avLst/>
          </a:prstGeom>
          <a:solidFill>
            <a:srgbClr val="0E345F"/>
          </a:solidFill>
          <a:ln w="12700">
            <a:solidFill>
              <a:srgbClr val="0E345F"/>
            </a:solidFill>
          </a:ln>
        </p:spPr>
        <p:txBody>
          <a:bodyPr wrap="square" lIns="0" tIns="92075" rIns="0" bIns="0" rtlCol="0" vert="horz">
            <a:spAutoFit/>
          </a:bodyPr>
          <a:lstStyle/>
          <a:p>
            <a:pPr marL="176530">
              <a:lnSpc>
                <a:spcPct val="100000"/>
              </a:lnSpc>
              <a:spcBef>
                <a:spcPts val="725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Funcionalidades</a:t>
            </a:r>
            <a:r>
              <a:rPr dirty="0" sz="1200" spc="-6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do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Sistema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503555" y="2418905"/>
            <a:ext cx="3094990" cy="108458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342900" indent="-342900">
              <a:lnSpc>
                <a:spcPct val="100000"/>
              </a:lnSpc>
              <a:spcBef>
                <a:spcPts val="200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Cálculo</a:t>
            </a:r>
            <a:r>
              <a:rPr dirty="0" sz="1100" spc="1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de</a:t>
            </a:r>
            <a:r>
              <a:rPr dirty="0" sz="1100" spc="1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Porcentagem</a:t>
            </a:r>
            <a:r>
              <a:rPr dirty="0" sz="1100" spc="15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de</a:t>
            </a:r>
            <a:r>
              <a:rPr dirty="0" sz="1100" spc="11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Crescimento</a:t>
            </a:r>
            <a:endParaRPr sz="110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Margem</a:t>
            </a:r>
            <a:r>
              <a:rPr dirty="0" sz="1100" spc="8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Bruta</a:t>
            </a:r>
            <a:r>
              <a:rPr dirty="0" sz="1100" spc="17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automatizada</a:t>
            </a:r>
            <a:endParaRPr sz="110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35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Margem</a:t>
            </a:r>
            <a:r>
              <a:rPr dirty="0" sz="1100" spc="7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EBIT</a:t>
            </a:r>
            <a:r>
              <a:rPr dirty="0" sz="1100" spc="15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automatizada</a:t>
            </a:r>
            <a:endParaRPr sz="1100">
              <a:latin typeface="Calibri"/>
              <a:cs typeface="Calibri"/>
            </a:endParaRPr>
          </a:p>
          <a:p>
            <a:pPr marL="342900" indent="-342900">
              <a:lnSpc>
                <a:spcPct val="100000"/>
              </a:lnSpc>
              <a:spcBef>
                <a:spcPts val="105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Comparação</a:t>
            </a:r>
            <a:r>
              <a:rPr dirty="0" sz="1100" spc="25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financeira</a:t>
            </a:r>
            <a:r>
              <a:rPr dirty="0" sz="1100" spc="9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entre</a:t>
            </a:r>
            <a:r>
              <a:rPr dirty="0" sz="1100" spc="18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períodos</a:t>
            </a:r>
            <a:endParaRPr sz="1100">
              <a:latin typeface="Calibri"/>
              <a:cs typeface="Calibri"/>
            </a:endParaRPr>
          </a:p>
          <a:p>
            <a:pPr marL="342900" marR="5080" indent="-343535">
              <a:lnSpc>
                <a:spcPct val="102400"/>
              </a:lnSpc>
              <a:spcBef>
                <a:spcPts val="5"/>
              </a:spcBef>
              <a:buChar char="•"/>
              <a:tabLst>
                <a:tab pos="342900" algn="l"/>
              </a:tabLst>
            </a:pP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Sistema</a:t>
            </a:r>
            <a:r>
              <a:rPr dirty="0" sz="1100" spc="6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interativo:</a:t>
            </a:r>
            <a:r>
              <a:rPr dirty="0" sz="1100" spc="19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usuário</a:t>
            </a:r>
            <a:r>
              <a:rPr dirty="0" sz="1100" spc="19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seleciona</a:t>
            </a:r>
            <a:r>
              <a:rPr dirty="0" sz="1100" spc="17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o</a:t>
            </a:r>
            <a:r>
              <a:rPr dirty="0" sz="1100" spc="9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cálculo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desejado</a:t>
            </a:r>
            <a:r>
              <a:rPr dirty="0" sz="1100" spc="13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e</a:t>
            </a:r>
            <a:r>
              <a:rPr dirty="0" sz="1100" spc="80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insere</a:t>
            </a:r>
            <a:r>
              <a:rPr dirty="0" sz="1100" spc="7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212121"/>
                </a:solidFill>
                <a:latin typeface="Calibri"/>
                <a:cs typeface="Calibri"/>
              </a:rPr>
              <a:t>os</a:t>
            </a:r>
            <a:r>
              <a:rPr dirty="0" sz="1100" spc="135">
                <a:solidFill>
                  <a:srgbClr val="212121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212121"/>
                </a:solidFill>
                <a:latin typeface="Calibri"/>
                <a:cs typeface="Calibri"/>
              </a:rPr>
              <a:t>valores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4705350" y="733361"/>
            <a:ext cx="4167504" cy="4262755"/>
            <a:chOff x="4705350" y="733361"/>
            <a:chExt cx="4167504" cy="4262755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05350" y="733361"/>
              <a:ext cx="4167251" cy="4262501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853051" y="823912"/>
              <a:ext cx="3933825" cy="4029075"/>
            </a:xfrm>
            <a:custGeom>
              <a:avLst/>
              <a:gdLst/>
              <a:ahLst/>
              <a:cxnLst/>
              <a:rect l="l" t="t" r="r" b="b"/>
              <a:pathLst>
                <a:path w="3933825" h="4029075">
                  <a:moveTo>
                    <a:pt x="0" y="4029075"/>
                  </a:moveTo>
                  <a:lnTo>
                    <a:pt x="3933825" y="4029075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4029075"/>
                  </a:lnTo>
                  <a:close/>
                </a:path>
              </a:pathLst>
            </a:custGeom>
            <a:ln w="12700">
              <a:solidFill>
                <a:srgbClr val="0E345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853051" y="823975"/>
              <a:ext cx="3933825" cy="390525"/>
            </a:xfrm>
            <a:custGeom>
              <a:avLst/>
              <a:gdLst/>
              <a:ahLst/>
              <a:cxnLst/>
              <a:rect l="l" t="t" r="r" b="b"/>
              <a:pathLst>
                <a:path w="3933825" h="390525">
                  <a:moveTo>
                    <a:pt x="3933825" y="0"/>
                  </a:moveTo>
                  <a:lnTo>
                    <a:pt x="0" y="0"/>
                  </a:lnTo>
                  <a:lnTo>
                    <a:pt x="0" y="390525"/>
                  </a:lnTo>
                  <a:lnTo>
                    <a:pt x="3933825" y="390525"/>
                  </a:lnTo>
                  <a:lnTo>
                    <a:pt x="3933825" y="0"/>
                  </a:lnTo>
                  <a:close/>
                </a:path>
              </a:pathLst>
            </a:custGeom>
            <a:solidFill>
              <a:srgbClr val="CC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853051" y="823975"/>
              <a:ext cx="3933825" cy="390525"/>
            </a:xfrm>
            <a:custGeom>
              <a:avLst/>
              <a:gdLst/>
              <a:ahLst/>
              <a:cxnLst/>
              <a:rect l="l" t="t" r="r" b="b"/>
              <a:pathLst>
                <a:path w="3933825" h="390525">
                  <a:moveTo>
                    <a:pt x="0" y="390525"/>
                  </a:moveTo>
                  <a:lnTo>
                    <a:pt x="3933825" y="390525"/>
                  </a:lnTo>
                  <a:lnTo>
                    <a:pt x="3933825" y="0"/>
                  </a:lnTo>
                  <a:lnTo>
                    <a:pt x="0" y="0"/>
                  </a:lnTo>
                  <a:lnTo>
                    <a:pt x="0" y="390525"/>
                  </a:lnTo>
                  <a:close/>
                </a:path>
              </a:pathLst>
            </a:custGeom>
            <a:ln w="12700">
              <a:solidFill>
                <a:srgbClr val="CC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859401" y="902906"/>
            <a:ext cx="392112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462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FFFFFF"/>
                </a:solidFill>
                <a:latin typeface="Calibri"/>
                <a:cs typeface="Calibri"/>
              </a:rPr>
              <a:t>Funções</a:t>
            </a:r>
            <a:r>
              <a:rPr dirty="0" sz="120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FFFFFF"/>
                </a:solidFill>
                <a:latin typeface="Calibri"/>
                <a:cs typeface="Calibri"/>
              </a:rPr>
              <a:t>Principais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4853051" y="1214500"/>
            <a:ext cx="3933825" cy="3638550"/>
          </a:xfrm>
          <a:prstGeom prst="rect">
            <a:avLst/>
          </a:prstGeom>
          <a:solidFill>
            <a:srgbClr val="1A1A2D"/>
          </a:solidFill>
        </p:spPr>
        <p:txBody>
          <a:bodyPr wrap="square" lIns="0" tIns="107314" rIns="0" bIns="0" rtlCol="0" vert="horz">
            <a:spAutoFit/>
          </a:bodyPr>
          <a:lstStyle/>
          <a:p>
            <a:pPr marL="226695">
              <a:lnSpc>
                <a:spcPts val="1300"/>
              </a:lnSpc>
              <a:spcBef>
                <a:spcPts val="844"/>
              </a:spcBef>
            </a:pPr>
            <a:r>
              <a:rPr dirty="0" sz="1100" spc="-10">
                <a:solidFill>
                  <a:srgbClr val="FFFFFF"/>
                </a:solidFill>
                <a:latin typeface="Consolas"/>
                <a:cs typeface="Consolas"/>
              </a:rPr>
              <a:t>Porcentagem_de_Crescimento()</a:t>
            </a:r>
            <a:endParaRPr sz="1100">
              <a:latin typeface="Consolas"/>
              <a:cs typeface="Consolas"/>
            </a:endParaRPr>
          </a:p>
          <a:p>
            <a:pPr marL="226695">
              <a:lnSpc>
                <a:spcPts val="1300"/>
              </a:lnSpc>
            </a:pP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Solicita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ao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usuário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os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valores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de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 spc="-20">
                <a:solidFill>
                  <a:srgbClr val="FFFFFF"/>
                </a:solidFill>
                <a:latin typeface="Consolas"/>
                <a:cs typeface="Consolas"/>
              </a:rPr>
              <a:t>dois</a:t>
            </a:r>
            <a:endParaRPr sz="1100">
              <a:latin typeface="Consolas"/>
              <a:cs typeface="Consolas"/>
            </a:endParaRPr>
          </a:p>
          <a:p>
            <a:pPr marL="226695">
              <a:lnSpc>
                <a:spcPct val="100000"/>
              </a:lnSpc>
              <a:spcBef>
                <a:spcPts val="35"/>
              </a:spcBef>
            </a:pP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períodos,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calcula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e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exibe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o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nsolas"/>
                <a:cs typeface="Consolas"/>
              </a:rPr>
              <a:t>percentual.</a:t>
            </a:r>
            <a:endParaRPr sz="11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Consolas"/>
              <a:cs typeface="Consolas"/>
            </a:endParaRPr>
          </a:p>
          <a:p>
            <a:pPr marL="226695">
              <a:lnSpc>
                <a:spcPct val="100000"/>
              </a:lnSpc>
            </a:pPr>
            <a:r>
              <a:rPr dirty="0" sz="1100" spc="-10">
                <a:solidFill>
                  <a:srgbClr val="FFFFFF"/>
                </a:solidFill>
                <a:latin typeface="Consolas"/>
                <a:cs typeface="Consolas"/>
              </a:rPr>
              <a:t>FinanceiroRealHavan()</a:t>
            </a:r>
            <a:endParaRPr sz="1100">
              <a:latin typeface="Consolas"/>
              <a:cs typeface="Consolas"/>
            </a:endParaRPr>
          </a:p>
          <a:p>
            <a:pPr marL="226695" marR="345440">
              <a:lnSpc>
                <a:spcPct val="100600"/>
              </a:lnSpc>
              <a:spcBef>
                <a:spcPts val="25"/>
              </a:spcBef>
            </a:pP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Recebe</a:t>
            </a:r>
            <a:r>
              <a:rPr dirty="0" sz="11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parâmetros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reais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do</a:t>
            </a:r>
            <a:r>
              <a:rPr dirty="0" sz="11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nsolas"/>
                <a:cs typeface="Consolas"/>
              </a:rPr>
              <a:t>balanço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patrimonial</a:t>
            </a:r>
            <a:r>
              <a:rPr dirty="0" sz="11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e</a:t>
            </a:r>
            <a:r>
              <a:rPr dirty="0" sz="11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processa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os</a:t>
            </a:r>
            <a:r>
              <a:rPr dirty="0" sz="11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indicadores</a:t>
            </a:r>
            <a:r>
              <a:rPr dirty="0" sz="1100" spc="-2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onsolas"/>
                <a:cs typeface="Consolas"/>
              </a:rPr>
              <a:t>com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laço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de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repetição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for,</a:t>
            </a:r>
            <a:r>
              <a:rPr dirty="0" sz="1100" spc="-1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limitando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a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2</a:t>
            </a:r>
            <a:r>
              <a:rPr dirty="0" sz="1100" spc="-10">
                <a:solidFill>
                  <a:srgbClr val="FFFFFF"/>
                </a:solidFill>
                <a:latin typeface="Consolas"/>
                <a:cs typeface="Consolas"/>
              </a:rPr>
              <a:t> valores </a:t>
            </a:r>
            <a:r>
              <a:rPr dirty="0" sz="1100">
                <a:solidFill>
                  <a:srgbClr val="FFFFFF"/>
                </a:solidFill>
                <a:latin typeface="Consolas"/>
                <a:cs typeface="Consolas"/>
              </a:rPr>
              <a:t>por</a:t>
            </a:r>
            <a:r>
              <a:rPr dirty="0" sz="1100" spc="-15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onsolas"/>
                <a:cs typeface="Consolas"/>
              </a:rPr>
              <a:t>cálculo.</a:t>
            </a:r>
            <a:endParaRPr sz="1100">
              <a:latin typeface="Consolas"/>
              <a:cs typeface="Consolas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29550" y="0"/>
            <a:ext cx="1314450" cy="10191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-889" y="0"/>
            <a:ext cx="1254125" cy="1176020"/>
          </a:xfrm>
          <a:custGeom>
            <a:avLst/>
            <a:gdLst/>
            <a:ahLst/>
            <a:cxnLst/>
            <a:rect l="l" t="t" r="r" b="b"/>
            <a:pathLst>
              <a:path w="1254125" h="1176020">
                <a:moveTo>
                  <a:pt x="1253896" y="206629"/>
                </a:moveTo>
                <a:lnTo>
                  <a:pt x="1047267" y="0"/>
                </a:lnTo>
                <a:lnTo>
                  <a:pt x="0" y="0"/>
                </a:lnTo>
                <a:lnTo>
                  <a:pt x="0" y="891286"/>
                </a:lnTo>
                <a:lnTo>
                  <a:pt x="284645" y="1175893"/>
                </a:lnTo>
                <a:lnTo>
                  <a:pt x="735609" y="724928"/>
                </a:lnTo>
                <a:lnTo>
                  <a:pt x="911631" y="900938"/>
                </a:lnTo>
                <a:lnTo>
                  <a:pt x="1253896" y="558673"/>
                </a:lnTo>
                <a:lnTo>
                  <a:pt x="1077874" y="382663"/>
                </a:lnTo>
                <a:lnTo>
                  <a:pt x="1253896" y="206629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7019925" y="0"/>
            <a:ext cx="2124075" cy="1114425"/>
          </a:xfrm>
          <a:custGeom>
            <a:avLst/>
            <a:gdLst/>
            <a:ahLst/>
            <a:cxnLst/>
            <a:rect l="l" t="t" r="r" b="b"/>
            <a:pathLst>
              <a:path w="2124075" h="1114425">
                <a:moveTo>
                  <a:pt x="2124075" y="0"/>
                </a:moveTo>
                <a:lnTo>
                  <a:pt x="0" y="0"/>
                </a:lnTo>
                <a:lnTo>
                  <a:pt x="589889" y="565175"/>
                </a:lnTo>
                <a:lnTo>
                  <a:pt x="405892" y="749173"/>
                </a:lnTo>
                <a:lnTo>
                  <a:pt x="770509" y="1113790"/>
                </a:lnTo>
                <a:lnTo>
                  <a:pt x="962317" y="921981"/>
                </a:lnTo>
                <a:lnTo>
                  <a:pt x="1163193" y="1114425"/>
                </a:lnTo>
                <a:lnTo>
                  <a:pt x="2124075" y="193802"/>
                </a:lnTo>
                <a:lnTo>
                  <a:pt x="2124075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 descr=""/>
          <p:cNvGrpSpPr/>
          <p:nvPr/>
        </p:nvGrpSpPr>
        <p:grpSpPr>
          <a:xfrm>
            <a:off x="571500" y="219073"/>
            <a:ext cx="8020050" cy="4924425"/>
            <a:chOff x="571500" y="219073"/>
            <a:chExt cx="8020050" cy="4924425"/>
          </a:xfrm>
        </p:grpSpPr>
        <p:sp>
          <p:nvSpPr>
            <p:cNvPr id="5" name="object 5" descr=""/>
            <p:cNvSpPr/>
            <p:nvPr/>
          </p:nvSpPr>
          <p:spPr>
            <a:xfrm>
              <a:off x="5981700" y="4591049"/>
              <a:ext cx="1123950" cy="552450"/>
            </a:xfrm>
            <a:custGeom>
              <a:avLst/>
              <a:gdLst/>
              <a:ahLst/>
              <a:cxnLst/>
              <a:rect l="l" t="t" r="r" b="b"/>
              <a:pathLst>
                <a:path w="1123950" h="552450">
                  <a:moveTo>
                    <a:pt x="561975" y="0"/>
                  </a:moveTo>
                  <a:lnTo>
                    <a:pt x="0" y="552450"/>
                  </a:lnTo>
                  <a:lnTo>
                    <a:pt x="1123950" y="552450"/>
                  </a:lnTo>
                  <a:lnTo>
                    <a:pt x="561975" y="0"/>
                  </a:lnTo>
                  <a:close/>
                </a:path>
              </a:pathLst>
            </a:custGeom>
            <a:solidFill>
              <a:srgbClr val="4471C4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1500" y="219073"/>
              <a:ext cx="8020050" cy="481012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705475" y="4838699"/>
              <a:ext cx="609600" cy="304800"/>
            </a:xfrm>
            <a:custGeom>
              <a:avLst/>
              <a:gdLst/>
              <a:ahLst/>
              <a:cxnLst/>
              <a:rect l="l" t="t" r="r" b="b"/>
              <a:pathLst>
                <a:path w="609600" h="304800">
                  <a:moveTo>
                    <a:pt x="304800" y="0"/>
                  </a:moveTo>
                  <a:lnTo>
                    <a:pt x="0" y="304800"/>
                  </a:lnTo>
                  <a:lnTo>
                    <a:pt x="609600" y="3048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4471C4">
                <a:alpha val="30195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690626"/>
            <a:ext cx="9144000" cy="4453255"/>
          </a:xfrm>
          <a:custGeom>
            <a:avLst/>
            <a:gdLst/>
            <a:ahLst/>
            <a:cxnLst/>
            <a:rect l="l" t="t" r="r" b="b"/>
            <a:pathLst>
              <a:path w="9144000" h="4453255">
                <a:moveTo>
                  <a:pt x="0" y="4452873"/>
                </a:moveTo>
                <a:lnTo>
                  <a:pt x="9144000" y="4452873"/>
                </a:lnTo>
                <a:lnTo>
                  <a:pt x="9144000" y="0"/>
                </a:lnTo>
                <a:lnTo>
                  <a:pt x="0" y="0"/>
                </a:lnTo>
                <a:lnTo>
                  <a:pt x="0" y="4452873"/>
                </a:lnTo>
                <a:close/>
              </a:path>
            </a:pathLst>
          </a:custGeom>
          <a:solidFill>
            <a:srgbClr val="1A1A2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-1586" y="-1523"/>
            <a:ext cx="9152255" cy="698500"/>
            <a:chOff x="-1586" y="-1523"/>
            <a:chExt cx="9152255" cy="698500"/>
          </a:xfrm>
        </p:grpSpPr>
        <p:sp>
          <p:nvSpPr>
            <p:cNvPr id="4" name="object 4" descr=""/>
            <p:cNvSpPr/>
            <p:nvPr/>
          </p:nvSpPr>
          <p:spPr>
            <a:xfrm>
              <a:off x="0" y="0"/>
              <a:ext cx="9144000" cy="5080"/>
            </a:xfrm>
            <a:custGeom>
              <a:avLst/>
              <a:gdLst/>
              <a:ahLst/>
              <a:cxnLst/>
              <a:rect l="l" t="t" r="r" b="b"/>
              <a:pathLst>
                <a:path w="9144000" h="5080">
                  <a:moveTo>
                    <a:pt x="0" y="4826"/>
                  </a:moveTo>
                  <a:lnTo>
                    <a:pt x="9144000" y="4826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4826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63" y="4826"/>
              <a:ext cx="9139555" cy="685800"/>
            </a:xfrm>
            <a:custGeom>
              <a:avLst/>
              <a:gdLst/>
              <a:ahLst/>
              <a:cxnLst/>
              <a:rect l="l" t="t" r="r" b="b"/>
              <a:pathLst>
                <a:path w="9139555" h="685800">
                  <a:moveTo>
                    <a:pt x="9139236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39236" y="685800"/>
                  </a:lnTo>
                  <a:lnTo>
                    <a:pt x="9139236" y="0"/>
                  </a:lnTo>
                  <a:close/>
                </a:path>
              </a:pathLst>
            </a:custGeom>
            <a:solidFill>
              <a:srgbClr val="CC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763" y="4826"/>
              <a:ext cx="9139555" cy="685800"/>
            </a:xfrm>
            <a:custGeom>
              <a:avLst/>
              <a:gdLst/>
              <a:ahLst/>
              <a:cxnLst/>
              <a:rect l="l" t="t" r="r" b="b"/>
              <a:pathLst>
                <a:path w="9139555" h="685800">
                  <a:moveTo>
                    <a:pt x="9139236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9139236" y="685800"/>
                  </a:lnTo>
                </a:path>
              </a:pathLst>
            </a:custGeom>
            <a:ln w="12700">
              <a:solidFill>
                <a:srgbClr val="CC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07</a:t>
            </a:r>
            <a:r>
              <a:rPr dirty="0" spc="430"/>
              <a:t> </a:t>
            </a:r>
            <a:r>
              <a:rPr dirty="0" spc="-10"/>
              <a:t>CONCLUSÃO</a:t>
            </a:r>
          </a:p>
        </p:txBody>
      </p:sp>
      <p:grpSp>
        <p:nvGrpSpPr>
          <p:cNvPr id="8" name="object 8" descr=""/>
          <p:cNvGrpSpPr/>
          <p:nvPr/>
        </p:nvGrpSpPr>
        <p:grpSpPr>
          <a:xfrm>
            <a:off x="180975" y="733361"/>
            <a:ext cx="8729980" cy="909955"/>
            <a:chOff x="180975" y="733361"/>
            <a:chExt cx="8729980" cy="909955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975" y="733361"/>
              <a:ext cx="8729726" cy="90963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671512" y="823975"/>
              <a:ext cx="8153400" cy="676275"/>
            </a:xfrm>
            <a:custGeom>
              <a:avLst/>
              <a:gdLst/>
              <a:ahLst/>
              <a:cxnLst/>
              <a:rect l="l" t="t" r="r" b="b"/>
              <a:pathLst>
                <a:path w="8153400" h="676275">
                  <a:moveTo>
                    <a:pt x="0" y="676275"/>
                  </a:moveTo>
                  <a:lnTo>
                    <a:pt x="8153400" y="676275"/>
                  </a:lnTo>
                  <a:lnTo>
                    <a:pt x="8153400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</a:pathLst>
            </a:custGeom>
            <a:solidFill>
              <a:srgbClr val="16203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28612" y="823975"/>
              <a:ext cx="8496300" cy="676275"/>
            </a:xfrm>
            <a:custGeom>
              <a:avLst/>
              <a:gdLst/>
              <a:ahLst/>
              <a:cxnLst/>
              <a:rect l="l" t="t" r="r" b="b"/>
              <a:pathLst>
                <a:path w="8496300" h="676275">
                  <a:moveTo>
                    <a:pt x="0" y="676275"/>
                  </a:moveTo>
                  <a:lnTo>
                    <a:pt x="8496300" y="676275"/>
                  </a:lnTo>
                  <a:lnTo>
                    <a:pt x="8496300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</a:pathLst>
            </a:custGeom>
            <a:ln w="10160">
              <a:solidFill>
                <a:srgbClr val="0E34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28612" y="823975"/>
            <a:ext cx="342900" cy="676275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2540">
              <a:lnSpc>
                <a:spcPct val="100000"/>
              </a:lnSpc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77862" y="1053846"/>
            <a:ext cx="8141970" cy="1968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63830">
              <a:lnSpc>
                <a:spcPct val="100000"/>
              </a:lnSpc>
              <a:spcBef>
                <a:spcPts val="125"/>
              </a:spcBef>
            </a:pP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Análise</a:t>
            </a:r>
            <a:r>
              <a:rPr dirty="0" sz="11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tecnológica,</a:t>
            </a:r>
            <a:r>
              <a:rPr dirty="0" sz="11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financeira</a:t>
            </a:r>
            <a:r>
              <a:rPr dirty="0" sz="11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100" spc="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ética</a:t>
            </a:r>
            <a:r>
              <a:rPr dirty="0" sz="11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dirty="0" sz="11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Havan</a:t>
            </a:r>
            <a:r>
              <a:rPr dirty="0" sz="1100" spc="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demonstrou</a:t>
            </a:r>
            <a:r>
              <a:rPr dirty="0" sz="11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1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importância</a:t>
            </a:r>
            <a:r>
              <a:rPr dirty="0" sz="11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da</a:t>
            </a:r>
            <a:r>
              <a:rPr dirty="0" sz="110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TI</a:t>
            </a:r>
            <a:r>
              <a:rPr dirty="0" sz="1100" spc="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em</a:t>
            </a:r>
            <a:r>
              <a:rPr dirty="0" sz="1100" spc="1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grandes</a:t>
            </a:r>
            <a:r>
              <a:rPr dirty="0" sz="11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varejistas.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180975" y="1542986"/>
            <a:ext cx="8729980" cy="909955"/>
            <a:chOff x="180975" y="1542986"/>
            <a:chExt cx="8729980" cy="909955"/>
          </a:xfrm>
        </p:grpSpPr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975" y="1542986"/>
              <a:ext cx="8729726" cy="909637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328612" y="1633601"/>
              <a:ext cx="8496300" cy="676275"/>
            </a:xfrm>
            <a:custGeom>
              <a:avLst/>
              <a:gdLst/>
              <a:ahLst/>
              <a:cxnLst/>
              <a:rect l="l" t="t" r="r" b="b"/>
              <a:pathLst>
                <a:path w="8496300" h="676275">
                  <a:moveTo>
                    <a:pt x="0" y="676275"/>
                  </a:moveTo>
                  <a:lnTo>
                    <a:pt x="8496300" y="676275"/>
                  </a:lnTo>
                  <a:lnTo>
                    <a:pt x="8496300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</a:pathLst>
            </a:custGeom>
            <a:ln w="10160">
              <a:solidFill>
                <a:srgbClr val="0E34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 descr=""/>
          <p:cNvSpPr txBox="1"/>
          <p:nvPr/>
        </p:nvSpPr>
        <p:spPr>
          <a:xfrm>
            <a:off x="328612" y="1633601"/>
            <a:ext cx="342900" cy="676275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2540">
              <a:lnSpc>
                <a:spcPct val="100000"/>
              </a:lnSpc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671512" y="1633601"/>
            <a:ext cx="8153400" cy="676275"/>
          </a:xfrm>
          <a:prstGeom prst="rect">
            <a:avLst/>
          </a:prstGeom>
          <a:solidFill>
            <a:srgbClr val="16203D"/>
          </a:solidFill>
        </p:spPr>
        <p:txBody>
          <a:bodyPr wrap="square" lIns="0" tIns="812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40"/>
              </a:spcBef>
            </a:pPr>
            <a:endParaRPr sz="1100">
              <a:latin typeface="Times New Roman"/>
              <a:cs typeface="Times New Roman"/>
            </a:endParaRPr>
          </a:p>
          <a:p>
            <a:pPr marL="170180">
              <a:lnSpc>
                <a:spcPct val="100000"/>
              </a:lnSpc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Dados</a:t>
            </a:r>
            <a:r>
              <a:rPr dirty="0" sz="110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financeiros</a:t>
            </a:r>
            <a:r>
              <a:rPr dirty="0" sz="1100" spc="1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revelaram</a:t>
            </a:r>
            <a:r>
              <a:rPr dirty="0" sz="110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crescimento</a:t>
            </a:r>
            <a:r>
              <a:rPr dirty="0" sz="1100" spc="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consistente</a:t>
            </a:r>
            <a:r>
              <a:rPr dirty="0" sz="11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ao</a:t>
            </a:r>
            <a:r>
              <a:rPr dirty="0" sz="110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longo</a:t>
            </a:r>
            <a:r>
              <a:rPr dirty="0" sz="110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1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2023–2024,</a:t>
            </a:r>
            <a:r>
              <a:rPr dirty="0" sz="1100" spc="1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dirty="0" sz="1100" spc="1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pico</a:t>
            </a:r>
            <a:r>
              <a:rPr dirty="0" sz="1100" spc="1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11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Q4.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80975" y="2343086"/>
            <a:ext cx="8729980" cy="909955"/>
            <a:chOff x="180975" y="2343086"/>
            <a:chExt cx="8729980" cy="909955"/>
          </a:xfrm>
        </p:grpSpPr>
        <p:pic>
          <p:nvPicPr>
            <p:cNvPr id="20" name="object 2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975" y="2343086"/>
              <a:ext cx="8729726" cy="909637"/>
            </a:xfrm>
            <a:prstGeom prst="rect">
              <a:avLst/>
            </a:prstGeom>
          </p:spPr>
        </p:pic>
        <p:sp>
          <p:nvSpPr>
            <p:cNvPr id="21" name="object 21" descr=""/>
            <p:cNvSpPr/>
            <p:nvPr/>
          </p:nvSpPr>
          <p:spPr>
            <a:xfrm>
              <a:off x="328612" y="2433700"/>
              <a:ext cx="8496300" cy="676275"/>
            </a:xfrm>
            <a:custGeom>
              <a:avLst/>
              <a:gdLst/>
              <a:ahLst/>
              <a:cxnLst/>
              <a:rect l="l" t="t" r="r" b="b"/>
              <a:pathLst>
                <a:path w="8496300" h="676275">
                  <a:moveTo>
                    <a:pt x="0" y="676275"/>
                  </a:moveTo>
                  <a:lnTo>
                    <a:pt x="8496300" y="676275"/>
                  </a:lnTo>
                  <a:lnTo>
                    <a:pt x="8496300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</a:pathLst>
            </a:custGeom>
            <a:ln w="10160">
              <a:solidFill>
                <a:srgbClr val="0E34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 descr=""/>
          <p:cNvSpPr txBox="1"/>
          <p:nvPr/>
        </p:nvSpPr>
        <p:spPr>
          <a:xfrm>
            <a:off x="328612" y="2433701"/>
            <a:ext cx="342900" cy="676275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2540">
              <a:lnSpc>
                <a:spcPct val="100000"/>
              </a:lnSpc>
              <a:spcBef>
                <a:spcPts val="5"/>
              </a:spcBef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71512" y="2433701"/>
            <a:ext cx="8153400" cy="676275"/>
          </a:xfrm>
          <a:prstGeom prst="rect">
            <a:avLst/>
          </a:prstGeom>
          <a:solidFill>
            <a:srgbClr val="16203D"/>
          </a:solidFill>
        </p:spPr>
        <p:txBody>
          <a:bodyPr wrap="square" lIns="0" tIns="869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85"/>
              </a:spcBef>
            </a:pPr>
            <a:endParaRPr sz="1100">
              <a:latin typeface="Times New Roman"/>
              <a:cs typeface="Times New Roman"/>
            </a:endParaRPr>
          </a:p>
          <a:p>
            <a:pPr marL="170180">
              <a:lnSpc>
                <a:spcPct val="100000"/>
              </a:lnSpc>
              <a:spcBef>
                <a:spcPts val="5"/>
              </a:spcBef>
            </a:pP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1100" spc="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infraestrutura</a:t>
            </a:r>
            <a:r>
              <a:rPr dirty="0" sz="110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computacional</a:t>
            </a:r>
            <a:r>
              <a:rPr dirty="0" sz="11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(Azure</a:t>
            </a:r>
            <a:r>
              <a:rPr dirty="0" sz="1100" spc="1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1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SUSE</a:t>
            </a:r>
            <a:r>
              <a:rPr dirty="0" sz="110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dirty="0" sz="11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Kubernetes)</a:t>
            </a:r>
            <a:r>
              <a:rPr dirty="0" sz="1100" spc="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garante</a:t>
            </a:r>
            <a:r>
              <a:rPr dirty="0" sz="1100" spc="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escalabilidade</a:t>
            </a:r>
            <a:r>
              <a:rPr dirty="0" sz="11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1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1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segurança.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180975" y="3152775"/>
            <a:ext cx="8729980" cy="909955"/>
            <a:chOff x="180975" y="3152775"/>
            <a:chExt cx="8729980" cy="909955"/>
          </a:xfrm>
        </p:grpSpPr>
        <p:pic>
          <p:nvPicPr>
            <p:cNvPr id="25" name="object 2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975" y="3152775"/>
              <a:ext cx="8729726" cy="909637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328612" y="3243262"/>
              <a:ext cx="8496300" cy="676275"/>
            </a:xfrm>
            <a:custGeom>
              <a:avLst/>
              <a:gdLst/>
              <a:ahLst/>
              <a:cxnLst/>
              <a:rect l="l" t="t" r="r" b="b"/>
              <a:pathLst>
                <a:path w="8496300" h="676275">
                  <a:moveTo>
                    <a:pt x="0" y="676275"/>
                  </a:moveTo>
                  <a:lnTo>
                    <a:pt x="8496300" y="676275"/>
                  </a:lnTo>
                  <a:lnTo>
                    <a:pt x="8496300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</a:pathLst>
            </a:custGeom>
            <a:ln w="10160">
              <a:solidFill>
                <a:srgbClr val="0E34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328612" y="3243262"/>
            <a:ext cx="342900" cy="676275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1143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2540">
              <a:lnSpc>
                <a:spcPct val="100000"/>
              </a:lnSpc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671512" y="3243262"/>
            <a:ext cx="8153400" cy="676275"/>
          </a:xfrm>
          <a:prstGeom prst="rect">
            <a:avLst/>
          </a:prstGeom>
          <a:solidFill>
            <a:srgbClr val="16203D"/>
          </a:solidFill>
        </p:spPr>
        <p:txBody>
          <a:bodyPr wrap="square" lIns="0" tIns="8382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660"/>
              </a:spcBef>
            </a:pPr>
            <a:endParaRPr sz="1100">
              <a:latin typeface="Times New Roman"/>
              <a:cs typeface="Times New Roman"/>
            </a:endParaRPr>
          </a:p>
          <a:p>
            <a:pPr marL="170180">
              <a:lnSpc>
                <a:spcPct val="100000"/>
              </a:lnSpc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O</a:t>
            </a:r>
            <a:r>
              <a:rPr dirty="0" sz="11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programa</a:t>
            </a:r>
            <a:r>
              <a:rPr dirty="0" sz="1100" spc="1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Python</a:t>
            </a:r>
            <a:r>
              <a:rPr dirty="0" sz="1100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comprovou</a:t>
            </a:r>
            <a:r>
              <a:rPr dirty="0" sz="1100" spc="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como</a:t>
            </a:r>
            <a:r>
              <a:rPr dirty="0" sz="1100" spc="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automação</a:t>
            </a:r>
            <a:r>
              <a:rPr dirty="0" sz="1100" spc="2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acelera</a:t>
            </a:r>
            <a:r>
              <a:rPr dirty="0" sz="1100" spc="17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cálculos</a:t>
            </a:r>
            <a:r>
              <a:rPr dirty="0" sz="1100" spc="20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financeiros</a:t>
            </a:r>
            <a:r>
              <a:rPr dirty="0" sz="1100" spc="1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com</a:t>
            </a:r>
            <a:r>
              <a:rPr dirty="0" sz="1100" spc="8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precisão.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180975" y="3952875"/>
            <a:ext cx="8729980" cy="909955"/>
            <a:chOff x="180975" y="3952875"/>
            <a:chExt cx="8729980" cy="909955"/>
          </a:xfrm>
        </p:grpSpPr>
        <p:pic>
          <p:nvPicPr>
            <p:cNvPr id="30" name="object 3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0975" y="3952875"/>
              <a:ext cx="8729726" cy="909637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328612" y="4043362"/>
              <a:ext cx="8496300" cy="676275"/>
            </a:xfrm>
            <a:custGeom>
              <a:avLst/>
              <a:gdLst/>
              <a:ahLst/>
              <a:cxnLst/>
              <a:rect l="l" t="t" r="r" b="b"/>
              <a:pathLst>
                <a:path w="8496300" h="676275">
                  <a:moveTo>
                    <a:pt x="0" y="676275"/>
                  </a:moveTo>
                  <a:lnTo>
                    <a:pt x="8496300" y="676275"/>
                  </a:lnTo>
                  <a:lnTo>
                    <a:pt x="8496300" y="0"/>
                  </a:lnTo>
                  <a:lnTo>
                    <a:pt x="0" y="0"/>
                  </a:lnTo>
                  <a:lnTo>
                    <a:pt x="0" y="676275"/>
                  </a:lnTo>
                  <a:close/>
                </a:path>
              </a:pathLst>
            </a:custGeom>
            <a:ln w="10160">
              <a:solidFill>
                <a:srgbClr val="0E345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 descr=""/>
          <p:cNvSpPr txBox="1"/>
          <p:nvPr/>
        </p:nvSpPr>
        <p:spPr>
          <a:xfrm>
            <a:off x="328612" y="4043362"/>
            <a:ext cx="342900" cy="676275"/>
          </a:xfrm>
          <a:prstGeom prst="rect">
            <a:avLst/>
          </a:prstGeom>
          <a:solidFill>
            <a:srgbClr val="CC1F1F"/>
          </a:solidFill>
          <a:ln w="12700">
            <a:solidFill>
              <a:srgbClr val="CC1F1F"/>
            </a:solidFill>
          </a:ln>
        </p:spPr>
        <p:txBody>
          <a:bodyPr wrap="square" lIns="0" tIns="177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Times New Roman"/>
              <a:cs typeface="Times New Roman"/>
            </a:endParaRPr>
          </a:p>
          <a:p>
            <a:pPr algn="ctr" marR="2540">
              <a:lnSpc>
                <a:spcPct val="100000"/>
              </a:lnSpc>
            </a:pPr>
            <a:r>
              <a:rPr dirty="0" sz="1400" spc="-5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671512" y="4043362"/>
            <a:ext cx="8153400" cy="676275"/>
          </a:xfrm>
          <a:prstGeom prst="rect">
            <a:avLst/>
          </a:prstGeom>
          <a:solidFill>
            <a:srgbClr val="16203D"/>
          </a:solidFill>
        </p:spPr>
        <p:txBody>
          <a:bodyPr wrap="square" lIns="0" tIns="9017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10"/>
              </a:spcBef>
            </a:pPr>
            <a:endParaRPr sz="1100">
              <a:latin typeface="Times New Roman"/>
              <a:cs typeface="Times New Roman"/>
            </a:endParaRPr>
          </a:p>
          <a:p>
            <a:pPr marL="170180">
              <a:lnSpc>
                <a:spcPct val="100000"/>
              </a:lnSpc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Aspectos</a:t>
            </a:r>
            <a:r>
              <a:rPr dirty="0" sz="11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éticos</a:t>
            </a:r>
            <a:r>
              <a:rPr dirty="0" sz="110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(LGPD,</a:t>
            </a:r>
            <a:r>
              <a:rPr dirty="0" sz="110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vazamentos</a:t>
            </a:r>
            <a:r>
              <a:rPr dirty="0" sz="1100" spc="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1100" spc="2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meio</a:t>
            </a:r>
            <a:r>
              <a:rPr dirty="0" sz="1100" spc="19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ambiente)</a:t>
            </a:r>
            <a:r>
              <a:rPr dirty="0" sz="1100" spc="114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devem</a:t>
            </a:r>
            <a:r>
              <a:rPr dirty="0" sz="1100" spc="7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ser</a:t>
            </a:r>
            <a:r>
              <a:rPr dirty="0" sz="1100" spc="1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prioridade</a:t>
            </a:r>
            <a:r>
              <a:rPr dirty="0" sz="1100" spc="1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nas</a:t>
            </a:r>
            <a:r>
              <a:rPr dirty="0" sz="1100" spc="19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organizações.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86675" y="0"/>
            <a:ext cx="1323975" cy="10858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-1586" y="-1587"/>
            <a:ext cx="9152255" cy="5151755"/>
            <a:chOff x="-1586" y="-1587"/>
            <a:chExt cx="9152255" cy="5151755"/>
          </a:xfrm>
        </p:grpSpPr>
        <p:sp>
          <p:nvSpPr>
            <p:cNvPr id="3" name="object 3" descr=""/>
            <p:cNvSpPr/>
            <p:nvPr/>
          </p:nvSpPr>
          <p:spPr>
            <a:xfrm>
              <a:off x="166688" y="0"/>
              <a:ext cx="8820785" cy="5143500"/>
            </a:xfrm>
            <a:custGeom>
              <a:avLst/>
              <a:gdLst/>
              <a:ahLst/>
              <a:cxnLst/>
              <a:rect l="l" t="t" r="r" b="b"/>
              <a:pathLst>
                <a:path w="8820785" h="5143500">
                  <a:moveTo>
                    <a:pt x="0" y="5143500"/>
                  </a:moveTo>
                  <a:lnTo>
                    <a:pt x="8820212" y="5143500"/>
                  </a:lnTo>
                  <a:lnTo>
                    <a:pt x="8820212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solidFill>
              <a:srgbClr val="1A1A2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4763" y="4762"/>
              <a:ext cx="161925" cy="5139055"/>
            </a:xfrm>
            <a:custGeom>
              <a:avLst/>
              <a:gdLst/>
              <a:ahLst/>
              <a:cxnLst/>
              <a:rect l="l" t="t" r="r" b="b"/>
              <a:pathLst>
                <a:path w="161925" h="5139055">
                  <a:moveTo>
                    <a:pt x="161925" y="0"/>
                  </a:moveTo>
                  <a:lnTo>
                    <a:pt x="0" y="0"/>
                  </a:lnTo>
                  <a:lnTo>
                    <a:pt x="0" y="5138737"/>
                  </a:lnTo>
                  <a:lnTo>
                    <a:pt x="161925" y="5138737"/>
                  </a:lnTo>
                  <a:lnTo>
                    <a:pt x="161925" y="0"/>
                  </a:lnTo>
                  <a:close/>
                </a:path>
              </a:pathLst>
            </a:custGeom>
            <a:solidFill>
              <a:srgbClr val="CC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763" y="4762"/>
              <a:ext cx="161925" cy="5139055"/>
            </a:xfrm>
            <a:custGeom>
              <a:avLst/>
              <a:gdLst/>
              <a:ahLst/>
              <a:cxnLst/>
              <a:rect l="l" t="t" r="r" b="b"/>
              <a:pathLst>
                <a:path w="161925" h="5139055">
                  <a:moveTo>
                    <a:pt x="161925" y="5138737"/>
                  </a:moveTo>
                  <a:lnTo>
                    <a:pt x="161925" y="0"/>
                  </a:lnTo>
                  <a:lnTo>
                    <a:pt x="0" y="0"/>
                  </a:lnTo>
                  <a:lnTo>
                    <a:pt x="0" y="5138737"/>
                  </a:lnTo>
                </a:path>
              </a:pathLst>
            </a:custGeom>
            <a:ln w="12700">
              <a:solidFill>
                <a:srgbClr val="CC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986900" y="4762"/>
              <a:ext cx="157480" cy="5139055"/>
            </a:xfrm>
            <a:custGeom>
              <a:avLst/>
              <a:gdLst/>
              <a:ahLst/>
              <a:cxnLst/>
              <a:rect l="l" t="t" r="r" b="b"/>
              <a:pathLst>
                <a:path w="157479" h="5139055">
                  <a:moveTo>
                    <a:pt x="157099" y="0"/>
                  </a:moveTo>
                  <a:lnTo>
                    <a:pt x="0" y="0"/>
                  </a:lnTo>
                  <a:lnTo>
                    <a:pt x="0" y="5138737"/>
                  </a:lnTo>
                  <a:lnTo>
                    <a:pt x="157099" y="5138737"/>
                  </a:lnTo>
                  <a:lnTo>
                    <a:pt x="157099" y="0"/>
                  </a:lnTo>
                  <a:close/>
                </a:path>
              </a:pathLst>
            </a:custGeom>
            <a:solidFill>
              <a:srgbClr val="CC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8986900" y="4762"/>
              <a:ext cx="157480" cy="5139055"/>
            </a:xfrm>
            <a:custGeom>
              <a:avLst/>
              <a:gdLst/>
              <a:ahLst/>
              <a:cxnLst/>
              <a:rect l="l" t="t" r="r" b="b"/>
              <a:pathLst>
                <a:path w="157479" h="5139055">
                  <a:moveTo>
                    <a:pt x="157099" y="0"/>
                  </a:moveTo>
                  <a:lnTo>
                    <a:pt x="0" y="0"/>
                  </a:lnTo>
                  <a:lnTo>
                    <a:pt x="0" y="5138737"/>
                  </a:lnTo>
                </a:path>
              </a:pathLst>
            </a:custGeom>
            <a:ln w="12700">
              <a:solidFill>
                <a:srgbClr val="CC1F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23495">
              <a:lnSpc>
                <a:spcPct val="100000"/>
              </a:lnSpc>
              <a:spcBef>
                <a:spcPts val="105"/>
              </a:spcBef>
            </a:pPr>
            <a:r>
              <a:rPr dirty="0" sz="4200" spc="-10"/>
              <a:t>Obrigado!</a:t>
            </a:r>
            <a:endParaRPr sz="4200"/>
          </a:p>
        </p:txBody>
      </p:sp>
      <p:sp>
        <p:nvSpPr>
          <p:cNvPr id="9" name="object 9" descr=""/>
          <p:cNvSpPr txBox="1"/>
          <p:nvPr/>
        </p:nvSpPr>
        <p:spPr>
          <a:xfrm>
            <a:off x="3457575" y="2494914"/>
            <a:ext cx="224536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solidFill>
                  <a:srgbClr val="E8B86C"/>
                </a:solidFill>
                <a:latin typeface="Calibri"/>
                <a:cs typeface="Calibri"/>
              </a:rPr>
              <a:t>Dúvidas e</a:t>
            </a:r>
            <a:r>
              <a:rPr dirty="0" sz="2000" spc="-55">
                <a:solidFill>
                  <a:srgbClr val="E8B86C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E8B86C"/>
                </a:solidFill>
                <a:latin typeface="Calibri"/>
                <a:cs typeface="Calibri"/>
              </a:rPr>
              <a:t>perguntas?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39644" y="3457511"/>
            <a:ext cx="3667760" cy="360045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269875" marR="5080" indent="-257810">
              <a:lnSpc>
                <a:spcPts val="1280"/>
              </a:lnSpc>
              <a:spcBef>
                <a:spcPts val="200"/>
              </a:spcBef>
            </a:pP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João</a:t>
            </a:r>
            <a:r>
              <a:rPr dirty="0" sz="1100" spc="-3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Victor</a:t>
            </a:r>
            <a:r>
              <a:rPr dirty="0" sz="1100" spc="-4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·</a:t>
            </a:r>
            <a:r>
              <a:rPr dirty="0" sz="1100" spc="-2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Gabriel</a:t>
            </a:r>
            <a:r>
              <a:rPr dirty="0" sz="1100" spc="1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Oliveira</a:t>
            </a:r>
            <a:r>
              <a:rPr dirty="0" sz="1100" spc="-4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·</a:t>
            </a:r>
            <a:r>
              <a:rPr dirty="0" sz="1100" spc="-2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Lara</a:t>
            </a:r>
            <a:r>
              <a:rPr dirty="0" sz="1100" spc="2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Aparecida</a:t>
            </a:r>
            <a:r>
              <a:rPr dirty="0" sz="1100" spc="3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·</a:t>
            </a:r>
            <a:r>
              <a:rPr dirty="0" sz="1100" spc="-2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89899A"/>
                </a:solidFill>
                <a:latin typeface="Calibri"/>
                <a:cs typeface="Calibri"/>
              </a:rPr>
              <a:t>Sthefany</a:t>
            </a:r>
            <a:r>
              <a:rPr dirty="0" sz="1100" spc="-1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89899A"/>
                </a:solidFill>
                <a:latin typeface="Calibri"/>
                <a:cs typeface="Calibri"/>
              </a:rPr>
              <a:t>Caroline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UNIP</a:t>
            </a:r>
            <a:r>
              <a:rPr dirty="0" sz="1100" spc="-4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–</a:t>
            </a:r>
            <a:r>
              <a:rPr dirty="0" sz="1100" spc="1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Análise</a:t>
            </a:r>
            <a:r>
              <a:rPr dirty="0" sz="1100" spc="-4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e</a:t>
            </a:r>
            <a:r>
              <a:rPr dirty="0" sz="1100" spc="3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89899A"/>
                </a:solidFill>
                <a:latin typeface="Calibri"/>
                <a:cs typeface="Calibri"/>
              </a:rPr>
              <a:t>Desenvolvimento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 de</a:t>
            </a:r>
            <a:r>
              <a:rPr dirty="0" sz="1100" spc="-40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Sistemas</a:t>
            </a:r>
            <a:r>
              <a:rPr dirty="0" sz="1100" spc="254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89899A"/>
                </a:solidFill>
                <a:latin typeface="Calibri"/>
                <a:cs typeface="Calibri"/>
              </a:rPr>
              <a:t>|</a:t>
            </a:r>
            <a:r>
              <a:rPr dirty="0" sz="1100" spc="335">
                <a:solidFill>
                  <a:srgbClr val="89899A"/>
                </a:solidFill>
                <a:latin typeface="Calibri"/>
                <a:cs typeface="Calibri"/>
              </a:rPr>
              <a:t> </a:t>
            </a:r>
            <a:r>
              <a:rPr dirty="0" sz="1100" spc="-20">
                <a:solidFill>
                  <a:srgbClr val="89899A"/>
                </a:solidFill>
                <a:latin typeface="Calibri"/>
                <a:cs typeface="Calibri"/>
              </a:rPr>
              <a:t>2026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0" y="3829050"/>
            <a:ext cx="1314450" cy="1314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2026-06-01T22:58:05Z</dcterms:created>
  <dcterms:modified xsi:type="dcterms:W3CDTF">2026-06-01T22:58:05Z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2026-06-01T00:00:00Z</vt:filetime>
  </property>
  <property fmtid="{D5CDD505-2E9C-101B-9397-08002B2CF9AE}" pid="3" name="LastSaved">
    <vt:filetime>2026-06-01T00:00:00Z</vt:filetime>
  </property>
  <property fmtid="{D5CDD505-2E9C-101B-9397-08002B2CF9AE}" pid="4" name="Producer">
    <vt:lpwstr>3-Heights(TM) PDF Security Shell 4.8.25.2 (http://www.pdf-tools.com)</vt:lpwstr>
  </property>
</Properties>
</file>